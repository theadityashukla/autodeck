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Motivate the topic by highlighting the limitations of supervised learning (data dependency, cost) and the vast abundance of unlabeled data. Briefly introduce the core concept of self-supervised learning as a solution.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Clearly define supervised learning and self-supervised learning, outlining their differences in terms of data requirements and training objectives. Use a simple diagram or analogy.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moving beyond traditional supervised learning. The real breakthrough is self-supervised learning, where we train our AI models on massive amounts of *unlabeled* data. How? By designing clever ‘pretext’ tasks – like predicting the next frame in a video, or filling in missing pieces of an image.  The key is this: the pretext task isn't the ultimate goal. It’s a means to an end. What we’re really after are *powerful, transferable features* that can be used for a wide range of applications.  Our work with LeJEPA demonstrates how to optimize these representations, leading to more robust and efficient AI. It's about learning how to learn, enabling AI to unlock the potential of the world's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Introduce several prevalent pretext tasks (e.g., rotation prediction, contrastive learning, masked language modeling) without diving into extreme detail.  Categorize them by approach (e.g., generative, contrastive, predictive).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Focus on contrastive learning methods like SimCLR and MoCo, outlining their architecture, loss function, data augmentation strategies, and key considerations for optimal performance. Include visual examples.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Briefly discuss other relevant approaches like masked language modeling (BERT) and generative pretext tasks. Highlight their strengths and weaknesses compared to contrastive learning.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Showcase real-world applications of SSL across different domains (e.g., computer vision, natural language processing, audio processing). Use concrete examples.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Explore ongoing research and potential challenges in self-supervised learning, such as scaling to larger datasets, improving generalization, developing more efficient algorithms, and understanding theoretical limits.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Summarize the key takeaways of the presentation and reiterate the potential of self-supervised learning to revolutionize machine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Overview of Self Supervised Learning (PhD Student)</a:t>
            </a:r>
          </a:p>
        </p:txBody>
      </p:sp>
      <p:sp>
        <p:nvSpPr>
          <p:cNvPr id="3" name="Subtitle 2"/>
          <p:cNvSpPr>
            <a:spLocks noGrp="1"/>
          </p:cNvSpPr>
          <p:nvPr>
            <p:ph type="subTitle" idx="1"/>
          </p:nvPr>
        </p:nvSpPr>
        <p:spPr/>
        <p:txBody>
          <a:bodyPr/>
          <a:lstStyle/>
          <a:p>
            <a:r>
              <a:t>Generated by AutoDeck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The Promise of Self-Supervised Learning</a:t>
            </a:r>
          </a:p>
        </p:txBody>
      </p:sp>
      <p:sp>
        <p:nvSpPr>
          <p:cNvPr id="3" name="Content Placeholder 2"/>
          <p:cNvSpPr>
            <a:spLocks noGrp="1"/>
          </p:cNvSpPr>
          <p:nvPr>
            <p:ph idx="1"/>
          </p:nvPr>
        </p:nvSpPr>
        <p:spPr/>
        <p:txBody>
          <a:bodyPr wrap="square"/>
          <a:lstStyle/>
          <a:p/>
          <a:p>
            <a:r>
              <a:t>[Draft] Content to be generated.</a:t>
            </a:r>
          </a:p>
          <a:p>
            <a:r>
              <a:t>Instructions: Motivate the topic by highlighting the limitations of supervised learning (data dependency, cost) and the vast abundance of unlabeled data. Briefly introduce the core concept of self-supervised learning as a solution.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Supervised vs. Self-Supervised Learning: A Comparison</a:t>
            </a:r>
          </a:p>
        </p:txBody>
      </p:sp>
      <p:sp>
        <p:nvSpPr>
          <p:cNvPr id="3" name="Content Placeholder 2"/>
          <p:cNvSpPr>
            <a:spLocks noGrp="1"/>
          </p:cNvSpPr>
          <p:nvPr>
            <p:ph idx="1"/>
          </p:nvPr>
        </p:nvSpPr>
        <p:spPr/>
        <p:txBody>
          <a:bodyPr wrap="square"/>
          <a:lstStyle/>
          <a:p/>
          <a:p>
            <a:r>
              <a:t>[Draft] Content to be generated.</a:t>
            </a:r>
          </a:p>
          <a:p>
            <a:r>
              <a:t>Instructions: Clearly define supervised learning and self-supervised learning, outlining their differences in terms of data requirements and training objectives. Use a simple diagram or analogy.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Unlocking AI: The Power of Pretext Tasks</a:t>
            </a:r>
          </a:p>
        </p:txBody>
      </p:sp>
      <p:sp>
        <p:nvSpPr>
          <p:cNvPr id="3" name="Content Placeholder 2"/>
          <p:cNvSpPr>
            <a:spLocks noGrp="1"/>
          </p:cNvSpPr>
          <p:nvPr>
            <p:ph idx="1"/>
          </p:nvPr>
        </p:nvSpPr>
        <p:spPr>
          <a:xfrm>
            <a:off x="457200" y="0"/>
            <a:ext cx="4114800" cy="0"/>
          </a:xfrm>
        </p:spPr>
        <p:txBody>
          <a:bodyPr wrap="square"/>
          <a:lstStyle/>
          <a:p/>
          <a:p>
            <a:pPr/>
            <a:r>
              <a:t>Self-Supervised Learning: Train models on unlabeled data by creating 'pretext' tasks.</a:t>
            </a:r>
          </a:p>
          <a:p>
            <a:pPr/>
            <a:r>
              <a:t>Pretext Tasks Aren't the Goal: The task itself isn's what matters. It's about learning *useful representations*.</a:t>
            </a:r>
          </a:p>
          <a:p>
            <a:pPr/>
            <a:r>
              <a:t>Transferable Features: These learned representations can then be applied to various downstream tasks, boosting performance.</a:t>
            </a:r>
          </a:p>
          <a:p>
            <a:pPr/>
            <a:r>
              <a:t>LeJEPA: A New Framework: A new framework that optimizes these representations to be isotropic Gaussian, leading to significant improvements in performance and training stability.</a:t>
            </a:r>
          </a:p>
        </p:txBody>
      </p:sp>
      <p:pic>
        <p:nvPicPr>
          <p:cNvPr id="4" name="Picture 3" descr="img_1_2_bc74fad6.png"/>
          <p:cNvPicPr>
            <a:picLocks noChangeAspect="1"/>
          </p:cNvPicPr>
          <p:nvPr/>
        </p:nvPicPr>
        <p:blipFill>
          <a:blip r:embed="rId2"/>
          <a:stretch>
            <a:fillRect/>
          </a:stretch>
        </p:blipFill>
        <p:spPr>
          <a:xfrm>
            <a:off x="4754880" y="1828800"/>
            <a:ext cx="4114800"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Pretext Tasks: A Landscape Overview</a:t>
            </a:r>
          </a:p>
        </p:txBody>
      </p:sp>
      <p:sp>
        <p:nvSpPr>
          <p:cNvPr id="3" name="Content Placeholder 2"/>
          <p:cNvSpPr>
            <a:spLocks noGrp="1"/>
          </p:cNvSpPr>
          <p:nvPr>
            <p:ph idx="1"/>
          </p:nvPr>
        </p:nvSpPr>
        <p:spPr/>
        <p:txBody>
          <a:bodyPr wrap="square"/>
          <a:lstStyle/>
          <a:p/>
          <a:p>
            <a:r>
              <a:t>[Draft] Content to be generated.</a:t>
            </a:r>
          </a:p>
          <a:p>
            <a:r>
              <a:t>Instructions: Introduce several prevalent pretext tasks (e.g., rotation prediction, contrastive learning, masked language modeling) without diving into extreme detail.  Categorize them by approach (e.g., generative, contrastive, predictive).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Contrastive Learning: A Deep Dive (SimCLR/MoCo)</a:t>
            </a:r>
          </a:p>
        </p:txBody>
      </p:sp>
      <p:sp>
        <p:nvSpPr>
          <p:cNvPr id="3" name="Content Placeholder 2"/>
          <p:cNvSpPr>
            <a:spLocks noGrp="1"/>
          </p:cNvSpPr>
          <p:nvPr>
            <p:ph idx="1"/>
          </p:nvPr>
        </p:nvSpPr>
        <p:spPr/>
        <p:txBody>
          <a:bodyPr wrap="square"/>
          <a:lstStyle/>
          <a:p/>
          <a:p>
            <a:r>
              <a:t>[Draft] Content to be generated.</a:t>
            </a:r>
          </a:p>
          <a:p>
            <a:r>
              <a:t>Instructions: Focus on contrastive learning methods like SimCLR and MoCo, outlining their architecture, loss function, data augmentation strategies, and key considerations for optimal performance. Include visual examples.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Beyond Contrastive Learning: Other Promising Approaches</a:t>
            </a:r>
          </a:p>
        </p:txBody>
      </p:sp>
      <p:sp>
        <p:nvSpPr>
          <p:cNvPr id="3" name="Content Placeholder 2"/>
          <p:cNvSpPr>
            <a:spLocks noGrp="1"/>
          </p:cNvSpPr>
          <p:nvPr>
            <p:ph idx="1"/>
          </p:nvPr>
        </p:nvSpPr>
        <p:spPr/>
        <p:txBody>
          <a:bodyPr wrap="square"/>
          <a:lstStyle/>
          <a:p/>
          <a:p>
            <a:r>
              <a:t>[Draft] Content to be generated.</a:t>
            </a:r>
          </a:p>
          <a:p>
            <a:r>
              <a:t>Instructions: Briefly discuss other relevant approaches like masked language modeling (BERT) and generative pretext tasks. Highlight their strengths and weaknesses compared to contrastive learning.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Applications of Self-Supervised Learning</a:t>
            </a:r>
          </a:p>
        </p:txBody>
      </p:sp>
      <p:sp>
        <p:nvSpPr>
          <p:cNvPr id="3" name="Content Placeholder 2"/>
          <p:cNvSpPr>
            <a:spLocks noGrp="1"/>
          </p:cNvSpPr>
          <p:nvPr>
            <p:ph idx="1"/>
          </p:nvPr>
        </p:nvSpPr>
        <p:spPr/>
        <p:txBody>
          <a:bodyPr wrap="square"/>
          <a:lstStyle/>
          <a:p/>
          <a:p>
            <a:r>
              <a:t>[Draft] Content to be generated.</a:t>
            </a:r>
          </a:p>
          <a:p>
            <a:r>
              <a:t>Instructions: Showcase real-world applications of SSL across different domains (e.g., computer vision, natural language processing, audio processing). Use concrete examples.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Directions &amp; Challenges</a:t>
            </a:r>
          </a:p>
        </p:txBody>
      </p:sp>
      <p:sp>
        <p:nvSpPr>
          <p:cNvPr id="3" name="Content Placeholder 2"/>
          <p:cNvSpPr>
            <a:spLocks noGrp="1"/>
          </p:cNvSpPr>
          <p:nvPr>
            <p:ph idx="1"/>
          </p:nvPr>
        </p:nvSpPr>
        <p:spPr/>
        <p:txBody>
          <a:bodyPr wrap="square"/>
          <a:lstStyle/>
          <a:p/>
          <a:p>
            <a:r>
              <a:t>[Draft] Content to be generated.</a:t>
            </a:r>
          </a:p>
          <a:p>
            <a:r>
              <a:t>Instructions: Explore ongoing research and potential challenges in self-supervised learning, such as scaling to larger datasets, improving generalization, developing more efficient algorithms, and understanding theoretical limits.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The Future is Self-Supervised</a:t>
            </a:r>
          </a:p>
        </p:txBody>
      </p:sp>
      <p:sp>
        <p:nvSpPr>
          <p:cNvPr id="3" name="Content Placeholder 2"/>
          <p:cNvSpPr>
            <a:spLocks noGrp="1"/>
          </p:cNvSpPr>
          <p:nvPr>
            <p:ph idx="1"/>
          </p:nvPr>
        </p:nvSpPr>
        <p:spPr/>
        <p:txBody>
          <a:bodyPr wrap="square"/>
          <a:lstStyle/>
          <a:p/>
          <a:p>
            <a:r>
              <a:t>[Draft] Content to be generated.</a:t>
            </a:r>
          </a:p>
          <a:p>
            <a:r>
              <a:t>Instructions: Summarize the key takeaways of the presentation and reiterate the potential of self-supervised learning to revolutionize machine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