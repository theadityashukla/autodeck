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10820400" cy="113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chemeClr val="tx1"/>
                </a:solidFill>
                <a:latin typeface="Inter Display"/>
              </a:rPr>
              <a:t>Kernel rewrite cut inference cost faster than headcount ever could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92975"/>
            <a:ext cx="812800" cy="381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409834"/>
            <a:ext cx="5105400" cy="15766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800" b="1" i="0">
                <a:solidFill>
                  <a:schemeClr val="accent1"/>
                </a:solidFill>
                <a:latin typeface="Inter Display"/>
              </a:rPr>
              <a:t>62.9%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062638"/>
            <a:ext cx="5105400" cy="3887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chemeClr val="tx2"/>
                </a:solidFill>
                <a:latin typeface="Inter"/>
              </a:rPr>
              <a:t>increase in training throughput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680010"/>
            <a:ext cx="5105400" cy="9219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Measured on a single A100-80GB node across the full benchmark suite, with no change to model architecture or batch composition.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62200"/>
            <a:ext cx="1270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chemeClr val="accent1"/>
                </a:solidFill>
                <a:latin typeface="Inter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362200"/>
            <a:ext cx="4876800" cy="614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Median inference cost fell to $0.42 per million tokens.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167360"/>
            <a:ext cx="1270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chemeClr val="accent1"/>
                </a:solidFill>
                <a:latin typeface="Inter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67360"/>
            <a:ext cx="4876800" cy="614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No regression on any quality benchmark in the suite.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72520"/>
            <a:ext cx="1270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chemeClr val="accent1"/>
                </a:solidFill>
                <a:latin typeface="Inter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72520"/>
            <a:ext cx="4876800" cy="614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Change is confined to the attention kernel; the training loop is untouched.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80760"/>
            <a:ext cx="10820400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accent6"/>
                </a:solidFill>
                <a:latin typeface="Inter"/>
              </a:rPr>
              <a:t>Source: Kaplan et al. 2024, p.4 — figures re-verified at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33400"/>
            <a:ext cx="10820400" cy="113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chemeClr val="tx1"/>
                </a:solidFill>
                <a:latin typeface="Inter Display"/>
              </a:rPr>
              <a:t>Rewriting the kernel beats buying capacity on every axis that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5200" y="2628546"/>
            <a:ext cx="4622800" cy="3887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chemeClr val="tx1"/>
                </a:solidFill>
                <a:latin typeface="Inter"/>
              </a:rPr>
              <a:t>Add hardware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65200" y="3131618"/>
            <a:ext cx="508000" cy="3175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5200" y="3391968"/>
            <a:ext cx="127000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chemeClr val="accent6"/>
                </a:solidFill>
                <a:latin typeface="Inter"/>
              </a:rPr>
              <a:t>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3391968"/>
            <a:ext cx="4406900" cy="307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Cost scales linearly with 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3889799"/>
            <a:ext cx="127000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chemeClr val="accent6"/>
                </a:solidFill>
                <a:latin typeface="Inter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889799"/>
            <a:ext cx="4406900" cy="307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Six to nine weeks to any capacity.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" y="4387629"/>
            <a:ext cx="127000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chemeClr val="accent6"/>
                </a:solidFill>
                <a:latin typeface="Inter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4387629"/>
            <a:ext cx="4406900" cy="307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Leaves the inefficiency in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4885459"/>
            <a:ext cx="127000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chemeClr val="accent6"/>
                </a:solidFill>
                <a:latin typeface="Inter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1100" y="4885459"/>
            <a:ext cx="4406900" cy="307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No benefit to other teams.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24600" y="2349146"/>
            <a:ext cx="5181600" cy="3123043"/>
          </a:xfrm>
          <a:prstGeom prst="rect">
            <a:avLst/>
          </a:prstGeom>
          <a:solidFill>
            <a:schemeClr val="accent2">
              <a:lumMod val="12000"/>
              <a:lumOff val="88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0" y="2628546"/>
            <a:ext cx="4622800" cy="3887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chemeClr val="tx1"/>
                </a:solidFill>
                <a:latin typeface="Inter"/>
              </a:rPr>
              <a:t>Rewrite the kernel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4000" y="3131618"/>
            <a:ext cx="508000" cy="317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0" y="3391968"/>
            <a:ext cx="127000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chemeClr val="accent2"/>
                </a:solidFill>
                <a:latin typeface="Inter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3391968"/>
            <a:ext cx="4406900" cy="307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One-off cost; savings compound.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000" y="3889799"/>
            <a:ext cx="127000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chemeClr val="accent2"/>
                </a:solidFill>
                <a:latin typeface="Inter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9900" y="3889799"/>
            <a:ext cx="4406900" cy="307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Three weeks on the existing fleet.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4000" y="4387629"/>
            <a:ext cx="127000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chemeClr val="accent2"/>
                </a:solidFill>
                <a:latin typeface="Inter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9900" y="4387629"/>
            <a:ext cx="4406900" cy="307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Removes the inefficiency outright.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000" y="4885459"/>
            <a:ext cx="127000" cy="264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chemeClr val="accent2"/>
                </a:solidFill>
                <a:latin typeface="Inter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9900" y="4885459"/>
            <a:ext cx="4406900" cy="307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chemeClr val="tx2"/>
                </a:solidFill>
                <a:latin typeface="Inter"/>
              </a:rPr>
              <a:t>Every team on the runtime gains.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080760"/>
            <a:ext cx="10820400" cy="2438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chemeClr val="accent6"/>
                </a:solidFill>
                <a:latin typeface="Inter"/>
              </a:rPr>
              <a:t>Source: internal benchmark, Q3 2025 — see audit report for derivations.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Deck Dev (Inter)">
  <a:themeElements>
    <a:clrScheme name="AutoDeck Dev (Inter)">
      <a:dk1>
        <a:sysClr val="windowText" lastClr="15202B"/>
      </a:dk1>
      <a:lt1>
        <a:sysClr val="window" lastClr="FFFFFF"/>
      </a:lt1>
      <a:dk2>
        <a:srgbClr val="2C3E50"/>
      </a:dk2>
      <a:lt2>
        <a:srgbClr val="F4F6F8"/>
      </a:lt2>
      <a:accent1>
        <a:srgbClr val="1B4965"/>
      </a:accent1>
      <a:accent2>
        <a:srgbClr val="1E8E7E"/>
      </a:accent2>
      <a:accent3>
        <a:srgbClr val="D98324"/>
      </a:accent3>
      <a:accent4>
        <a:srgbClr val="A4303F"/>
      </a:accent4>
      <a:accent5>
        <a:srgbClr val="5E5A80"/>
      </a:accent5>
      <a:accent6>
        <a:srgbClr val="7A8B99"/>
      </a:accent6>
      <a:hlink>
        <a:srgbClr val="1B4965"/>
      </a:hlink>
      <a:folHlink>
        <a:srgbClr val="5E5A80"/>
      </a:folHlink>
    </a:clrScheme>
    <a:fontScheme name="AutoDeck Dev (Inter)">
      <a:majorFont>
        <a:latin typeface="Inter Display"/>
        <a:ea typeface=""/>
        <a:cs typeface=""/>
      </a:majorFont>
      <a:minorFont>
        <a:latin typeface="Inter"/>
        <a:ea typeface=""/>
        <a:cs typeface=""/>
      </a:minorFont>
    </a:fontScheme>
    <a:fmtScheme name="AutoDeck Dev (Inter)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