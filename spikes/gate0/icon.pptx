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3400"/>
            <a:ext cx="10820400" cy="565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chemeClr val="tx1"/>
                </a:solidFill>
                <a:latin typeface="Inter Display"/>
              </a:rPr>
              <a:t>Icons as native vector shapes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03687"/>
            <a:ext cx="10820400" cy="1432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0" i="0">
                <a:solidFill>
                  <a:schemeClr val="tx2"/>
                </a:solidFill>
                <a:latin typeface="Inter"/>
              </a:rPr>
              <a:t>Click any icon below. It should select as a shape, not as a picture.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0" i="0">
                <a:solidFill>
                  <a:schemeClr val="tx2"/>
                </a:solidFill>
                <a:latin typeface="Inter"/>
              </a:rPr>
              <a:t>Drag a corner handle: the strokes should stay crisp at any size.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0" i="0">
                <a:solidFill>
                  <a:schemeClr val="tx2"/>
                </a:solidFill>
                <a:latin typeface="Inter"/>
              </a:rPr>
              <a:t>Open the shape outline colour picker: the colour should sit in the Theme Colors row, and changing the theme variant should recolour the icon.</a:t>
            </a:r>
          </a:p>
        </p:txBody>
      </p:sp>
      <p:sp>
        <p:nvSpPr>
          <p:cNvPr id="4" name="icon:circle-alert"/>
          <p:cNvSpPr/>
          <p:nvPr/>
        </p:nvSpPr>
        <p:spPr>
          <a:xfrm>
            <a:off x="1188720" y="3293408"/>
            <a:ext cx="914400" cy="914400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91667" y="50000"/>
                </a:moveTo>
                <a:cubicBezTo>
                  <a:pt x="91667" y="73012"/>
                  <a:pt x="73012" y="91667"/>
                  <a:pt x="50000" y="91667"/>
                </a:cubicBezTo>
                <a:cubicBezTo>
                  <a:pt x="26988" y="91667"/>
                  <a:pt x="8333" y="73012"/>
                  <a:pt x="8333" y="50000"/>
                </a:cubicBezTo>
                <a:cubicBezTo>
                  <a:pt x="8333" y="26988"/>
                  <a:pt x="26988" y="8333"/>
                  <a:pt x="50000" y="8333"/>
                </a:cubicBezTo>
                <a:cubicBezTo>
                  <a:pt x="73012" y="8333"/>
                  <a:pt x="91667" y="26988"/>
                  <a:pt x="91667" y="50000"/>
                </a:cubicBezTo>
                <a:close/>
              </a:path>
            </a:pathLst>
          </a:custGeom>
          <a:noFill/>
          <a:ln w="33020" cap="rnd">
            <a:solidFill>
              <a:schemeClr val="accent1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con:circle-alert"/>
          <p:cNvSpPr/>
          <p:nvPr/>
        </p:nvSpPr>
        <p:spPr>
          <a:xfrm>
            <a:off x="1188720" y="3293408"/>
            <a:ext cx="914400" cy="914400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50000" y="33333"/>
                </a:moveTo>
                <a:lnTo>
                  <a:pt x="50000" y="50000"/>
                </a:lnTo>
              </a:path>
            </a:pathLst>
          </a:custGeom>
          <a:noFill/>
          <a:ln w="33020" cap="rnd">
            <a:solidFill>
              <a:schemeClr val="accent1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con:circle-alert"/>
          <p:cNvSpPr/>
          <p:nvPr/>
        </p:nvSpPr>
        <p:spPr>
          <a:xfrm>
            <a:off x="1188720" y="3293408"/>
            <a:ext cx="914400" cy="914400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50000" y="66667"/>
                </a:moveTo>
                <a:lnTo>
                  <a:pt x="50042" y="66667"/>
                </a:lnTo>
              </a:path>
            </a:pathLst>
          </a:custGeom>
          <a:noFill/>
          <a:ln w="33020" cap="rnd">
            <a:solidFill>
              <a:schemeClr val="accent1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588808"/>
            <a:ext cx="1920240" cy="1735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chemeClr val="tx2"/>
                </a:solidFill>
                <a:latin typeface="Inter"/>
              </a:rPr>
              <a:t>circle-alert</a:t>
            </a:r>
          </a:p>
        </p:txBody>
      </p:sp>
      <p:sp>
        <p:nvSpPr>
          <p:cNvPr id="8" name="icon:clock"/>
          <p:cNvSpPr/>
          <p:nvPr/>
        </p:nvSpPr>
        <p:spPr>
          <a:xfrm>
            <a:off x="3413760" y="3293408"/>
            <a:ext cx="914400" cy="914400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91667" y="50000"/>
                </a:moveTo>
                <a:cubicBezTo>
                  <a:pt x="91667" y="73012"/>
                  <a:pt x="73012" y="91667"/>
                  <a:pt x="50000" y="91667"/>
                </a:cubicBezTo>
                <a:cubicBezTo>
                  <a:pt x="26988" y="91667"/>
                  <a:pt x="8333" y="73012"/>
                  <a:pt x="8333" y="50000"/>
                </a:cubicBezTo>
                <a:cubicBezTo>
                  <a:pt x="8333" y="26988"/>
                  <a:pt x="26988" y="8333"/>
                  <a:pt x="50000" y="8333"/>
                </a:cubicBezTo>
                <a:cubicBezTo>
                  <a:pt x="73012" y="8333"/>
                  <a:pt x="91667" y="26988"/>
                  <a:pt x="91667" y="50000"/>
                </a:cubicBezTo>
                <a:close/>
              </a:path>
            </a:pathLst>
          </a:custGeom>
          <a:noFill/>
          <a:ln w="33020" cap="rnd">
            <a:solidFill>
              <a:schemeClr val="accent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con:clock"/>
          <p:cNvSpPr/>
          <p:nvPr/>
        </p:nvSpPr>
        <p:spPr>
          <a:xfrm>
            <a:off x="3413760" y="3293408"/>
            <a:ext cx="914400" cy="914400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50000" y="25000"/>
                </a:moveTo>
                <a:lnTo>
                  <a:pt x="50000" y="50000"/>
                </a:lnTo>
                <a:lnTo>
                  <a:pt x="66667" y="58333"/>
                </a:lnTo>
              </a:path>
            </a:pathLst>
          </a:custGeom>
          <a:noFill/>
          <a:ln w="33020" cap="rnd">
            <a:solidFill>
              <a:schemeClr val="accent2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10840" y="4588808"/>
            <a:ext cx="1920240" cy="1735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chemeClr val="tx2"/>
                </a:solidFill>
                <a:latin typeface="Inter"/>
              </a:rPr>
              <a:t>clock</a:t>
            </a:r>
          </a:p>
        </p:txBody>
      </p:sp>
      <p:sp>
        <p:nvSpPr>
          <p:cNvPr id="11" name="icon:git-branch"/>
          <p:cNvSpPr/>
          <p:nvPr/>
        </p:nvSpPr>
        <p:spPr>
          <a:xfrm>
            <a:off x="5638800" y="3293408"/>
            <a:ext cx="914400" cy="914400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62500" y="25000"/>
                </a:moveTo>
                <a:cubicBezTo>
                  <a:pt x="41789" y="25000"/>
                  <a:pt x="25000" y="41789"/>
                  <a:pt x="25000" y="62500"/>
                </a:cubicBezTo>
                <a:lnTo>
                  <a:pt x="25000" y="12500"/>
                </a:lnTo>
              </a:path>
            </a:pathLst>
          </a:custGeom>
          <a:noFill/>
          <a:ln w="33020" cap="rnd">
            <a:solidFill>
              <a:schemeClr val="accent3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con:git-branch"/>
          <p:cNvSpPr/>
          <p:nvPr/>
        </p:nvSpPr>
        <p:spPr>
          <a:xfrm>
            <a:off x="5638800" y="3293408"/>
            <a:ext cx="914400" cy="914400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87500" y="25000"/>
                </a:moveTo>
                <a:cubicBezTo>
                  <a:pt x="87500" y="31904"/>
                  <a:pt x="81904" y="37500"/>
                  <a:pt x="75000" y="37500"/>
                </a:cubicBezTo>
                <a:cubicBezTo>
                  <a:pt x="68096" y="37500"/>
                  <a:pt x="62500" y="31904"/>
                  <a:pt x="62500" y="25000"/>
                </a:cubicBezTo>
                <a:cubicBezTo>
                  <a:pt x="62500" y="18096"/>
                  <a:pt x="68096" y="12500"/>
                  <a:pt x="75000" y="12500"/>
                </a:cubicBezTo>
                <a:cubicBezTo>
                  <a:pt x="81904" y="12500"/>
                  <a:pt x="87500" y="18096"/>
                  <a:pt x="87500" y="25000"/>
                </a:cubicBezTo>
                <a:close/>
              </a:path>
            </a:pathLst>
          </a:custGeom>
          <a:noFill/>
          <a:ln w="33020" cap="rnd">
            <a:solidFill>
              <a:schemeClr val="accent3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con:git-branch"/>
          <p:cNvSpPr/>
          <p:nvPr/>
        </p:nvSpPr>
        <p:spPr>
          <a:xfrm>
            <a:off x="5638800" y="3293408"/>
            <a:ext cx="914400" cy="914400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37500" y="75000"/>
                </a:moveTo>
                <a:cubicBezTo>
                  <a:pt x="37500" y="81904"/>
                  <a:pt x="31904" y="87500"/>
                  <a:pt x="25000" y="87500"/>
                </a:cubicBezTo>
                <a:cubicBezTo>
                  <a:pt x="18096" y="87500"/>
                  <a:pt x="12500" y="81904"/>
                  <a:pt x="12500" y="75000"/>
                </a:cubicBezTo>
                <a:cubicBezTo>
                  <a:pt x="12500" y="68096"/>
                  <a:pt x="18096" y="62500"/>
                  <a:pt x="25000" y="62500"/>
                </a:cubicBezTo>
                <a:cubicBezTo>
                  <a:pt x="31904" y="62500"/>
                  <a:pt x="37500" y="68096"/>
                  <a:pt x="37500" y="75000"/>
                </a:cubicBezTo>
                <a:close/>
              </a:path>
            </a:pathLst>
          </a:custGeom>
          <a:noFill/>
          <a:ln w="33020" cap="rnd">
            <a:solidFill>
              <a:schemeClr val="accent3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35880" y="4588808"/>
            <a:ext cx="1920240" cy="1735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chemeClr val="tx2"/>
                </a:solidFill>
                <a:latin typeface="Inter"/>
              </a:rPr>
              <a:t>git-branch</a:t>
            </a:r>
          </a:p>
        </p:txBody>
      </p:sp>
      <p:sp>
        <p:nvSpPr>
          <p:cNvPr id="15" name="icon:layers"/>
          <p:cNvSpPr/>
          <p:nvPr/>
        </p:nvSpPr>
        <p:spPr>
          <a:xfrm>
            <a:off x="7863840" y="3293408"/>
            <a:ext cx="914400" cy="914400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53458" y="9083"/>
                </a:moveTo>
                <a:cubicBezTo>
                  <a:pt x="51262" y="8081"/>
                  <a:pt x="48738" y="8081"/>
                  <a:pt x="46542" y="9083"/>
                </a:cubicBezTo>
                <a:lnTo>
                  <a:pt x="10833" y="25333"/>
                </a:lnTo>
                <a:cubicBezTo>
                  <a:pt x="9323" y="25999"/>
                  <a:pt x="8348" y="27495"/>
                  <a:pt x="8348" y="29146"/>
                </a:cubicBezTo>
                <a:cubicBezTo>
                  <a:pt x="8348" y="30797"/>
                  <a:pt x="9323" y="32292"/>
                  <a:pt x="10833" y="32958"/>
                </a:cubicBezTo>
                <a:lnTo>
                  <a:pt x="46583" y="49250"/>
                </a:lnTo>
                <a:cubicBezTo>
                  <a:pt x="48780" y="50252"/>
                  <a:pt x="51303" y="50252"/>
                  <a:pt x="53500" y="49250"/>
                </a:cubicBezTo>
                <a:lnTo>
                  <a:pt x="89250" y="33000"/>
                </a:lnTo>
                <a:cubicBezTo>
                  <a:pt x="90761" y="32334"/>
                  <a:pt x="91736" y="30839"/>
                  <a:pt x="91736" y="29188"/>
                </a:cubicBezTo>
                <a:cubicBezTo>
                  <a:pt x="91736" y="27536"/>
                  <a:pt x="90761" y="26041"/>
                  <a:pt x="89250" y="25375"/>
                </a:cubicBezTo>
                <a:close/>
              </a:path>
            </a:pathLst>
          </a:custGeom>
          <a:noFill/>
          <a:ln w="33020" cap="rnd">
            <a:solidFill>
              <a:schemeClr val="accent4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con:layers"/>
          <p:cNvSpPr/>
          <p:nvPr/>
        </p:nvSpPr>
        <p:spPr>
          <a:xfrm>
            <a:off x="7863840" y="3293408"/>
            <a:ext cx="914400" cy="914400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8333" y="50000"/>
                </a:moveTo>
                <a:cubicBezTo>
                  <a:pt x="8329" y="51627"/>
                  <a:pt x="9273" y="53108"/>
                  <a:pt x="10750" y="53792"/>
                </a:cubicBezTo>
                <a:lnTo>
                  <a:pt x="46583" y="70083"/>
                </a:lnTo>
                <a:cubicBezTo>
                  <a:pt x="48768" y="71073"/>
                  <a:pt x="51273" y="71073"/>
                  <a:pt x="53458" y="70083"/>
                </a:cubicBezTo>
                <a:lnTo>
                  <a:pt x="89208" y="53833"/>
                </a:lnTo>
                <a:cubicBezTo>
                  <a:pt x="90715" y="53156"/>
                  <a:pt x="91680" y="51652"/>
                  <a:pt x="91667" y="50000"/>
                </a:cubicBezTo>
              </a:path>
            </a:pathLst>
          </a:custGeom>
          <a:noFill/>
          <a:ln w="33020" cap="rnd">
            <a:solidFill>
              <a:schemeClr val="accent4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con:layers"/>
          <p:cNvSpPr/>
          <p:nvPr/>
        </p:nvSpPr>
        <p:spPr>
          <a:xfrm>
            <a:off x="7863840" y="3293408"/>
            <a:ext cx="914400" cy="914400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8333" y="70833"/>
                </a:moveTo>
                <a:cubicBezTo>
                  <a:pt x="8329" y="72461"/>
                  <a:pt x="9273" y="73942"/>
                  <a:pt x="10750" y="74625"/>
                </a:cubicBezTo>
                <a:lnTo>
                  <a:pt x="46583" y="90917"/>
                </a:lnTo>
                <a:cubicBezTo>
                  <a:pt x="48768" y="91906"/>
                  <a:pt x="51273" y="91906"/>
                  <a:pt x="53458" y="90917"/>
                </a:cubicBezTo>
                <a:lnTo>
                  <a:pt x="89208" y="74667"/>
                </a:lnTo>
                <a:cubicBezTo>
                  <a:pt x="90715" y="73989"/>
                  <a:pt x="91680" y="72486"/>
                  <a:pt x="91667" y="70833"/>
                </a:cubicBezTo>
              </a:path>
            </a:pathLst>
          </a:custGeom>
          <a:noFill/>
          <a:ln w="33020" cap="rnd">
            <a:solidFill>
              <a:schemeClr val="accent4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4588808"/>
            <a:ext cx="1920240" cy="1735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chemeClr val="tx2"/>
                </a:solidFill>
                <a:latin typeface="Inter"/>
              </a:rPr>
              <a:t>layers</a:t>
            </a:r>
          </a:p>
        </p:txBody>
      </p:sp>
      <p:sp>
        <p:nvSpPr>
          <p:cNvPr id="19" name="icon:shield-check"/>
          <p:cNvSpPr/>
          <p:nvPr/>
        </p:nvSpPr>
        <p:spPr>
          <a:xfrm>
            <a:off x="10088880" y="3293408"/>
            <a:ext cx="914400" cy="914400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83333" y="54167"/>
                </a:moveTo>
                <a:cubicBezTo>
                  <a:pt x="83333" y="75000"/>
                  <a:pt x="68750" y="85417"/>
                  <a:pt x="51417" y="91458"/>
                </a:cubicBezTo>
                <a:cubicBezTo>
                  <a:pt x="50509" y="91766"/>
                  <a:pt x="49523" y="91751"/>
                  <a:pt x="48625" y="91417"/>
                </a:cubicBezTo>
                <a:cubicBezTo>
                  <a:pt x="31250" y="85417"/>
                  <a:pt x="16667" y="75000"/>
                  <a:pt x="16667" y="54167"/>
                </a:cubicBezTo>
                <a:lnTo>
                  <a:pt x="16667" y="25000"/>
                </a:lnTo>
                <a:cubicBezTo>
                  <a:pt x="16667" y="22699"/>
                  <a:pt x="18532" y="20833"/>
                  <a:pt x="20833" y="20833"/>
                </a:cubicBezTo>
                <a:cubicBezTo>
                  <a:pt x="29167" y="20833"/>
                  <a:pt x="39583" y="15833"/>
                  <a:pt x="46833" y="9500"/>
                </a:cubicBezTo>
                <a:cubicBezTo>
                  <a:pt x="48657" y="7942"/>
                  <a:pt x="51343" y="7942"/>
                  <a:pt x="53167" y="9500"/>
                </a:cubicBezTo>
                <a:cubicBezTo>
                  <a:pt x="60458" y="15875"/>
                  <a:pt x="70833" y="20833"/>
                  <a:pt x="79167" y="20833"/>
                </a:cubicBezTo>
                <a:cubicBezTo>
                  <a:pt x="81468" y="20833"/>
                  <a:pt x="83333" y="22699"/>
                  <a:pt x="83333" y="25000"/>
                </a:cubicBezTo>
                <a:close/>
              </a:path>
            </a:pathLst>
          </a:custGeom>
          <a:noFill/>
          <a:ln w="33020" cap="rnd">
            <a:solidFill>
              <a:schemeClr val="accent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con:shield-check"/>
          <p:cNvSpPr/>
          <p:nvPr/>
        </p:nvSpPr>
        <p:spPr>
          <a:xfrm>
            <a:off x="10088880" y="3293408"/>
            <a:ext cx="914400" cy="914400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37500" y="50000"/>
                </a:moveTo>
                <a:lnTo>
                  <a:pt x="45833" y="58333"/>
                </a:lnTo>
                <a:lnTo>
                  <a:pt x="62500" y="41667"/>
                </a:lnTo>
              </a:path>
            </a:pathLst>
          </a:custGeom>
          <a:noFill/>
          <a:ln w="33020" cap="rnd">
            <a:solidFill>
              <a:schemeClr val="accent5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85960" y="4588808"/>
            <a:ext cx="1920240" cy="1735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chemeClr val="tx2"/>
                </a:solidFill>
                <a:latin typeface="Inter"/>
              </a:rPr>
              <a:t>shield-check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Deck Dev (Inter)">
  <a:themeElements>
    <a:clrScheme name="AutoDeck Dev (Inter)">
      <a:dk1>
        <a:sysClr val="windowText" lastClr="15202B"/>
      </a:dk1>
      <a:lt1>
        <a:sysClr val="window" lastClr="FFFFFF"/>
      </a:lt1>
      <a:dk2>
        <a:srgbClr val="2C3E50"/>
      </a:dk2>
      <a:lt2>
        <a:srgbClr val="F4F6F8"/>
      </a:lt2>
      <a:accent1>
        <a:srgbClr val="1B4965"/>
      </a:accent1>
      <a:accent2>
        <a:srgbClr val="1E8E7E"/>
      </a:accent2>
      <a:accent3>
        <a:srgbClr val="D98324"/>
      </a:accent3>
      <a:accent4>
        <a:srgbClr val="A4303F"/>
      </a:accent4>
      <a:accent5>
        <a:srgbClr val="5E5A80"/>
      </a:accent5>
      <a:accent6>
        <a:srgbClr val="7A8B99"/>
      </a:accent6>
      <a:hlink>
        <a:srgbClr val="1B4965"/>
      </a:hlink>
      <a:folHlink>
        <a:srgbClr val="5E5A80"/>
      </a:folHlink>
    </a:clrScheme>
    <a:fontScheme name="AutoDeck Dev (Inter)">
      <a:majorFont>
        <a:latin typeface="Inter Display"/>
        <a:ea typeface=""/>
        <a:cs typeface=""/>
      </a:majorFont>
      <a:minorFont>
        <a:latin typeface="Inter"/>
        <a:ea typeface=""/>
        <a:cs typeface=""/>
      </a:minorFont>
    </a:fontScheme>
    <a:fmtScheme name="AutoDeck Dev (Inter)"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