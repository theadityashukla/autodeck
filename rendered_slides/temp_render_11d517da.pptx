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0"/>
  </p:normalViewPr>
  <p:slideViewPr>
    <p:cSldViewPr snapToGrid="0">
      <p:cViewPr varScale="1">
        <p:scale>
          <a:sx n="115" d="100"/>
          <a:sy n="115" d="100"/>
        </p:scale>
        <p:origin x="664"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12/25/25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12/25/25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12/25/25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12/25/25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12/25/25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12/25/25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wrap="square"/>
          <a:lstStyle/>
          <a:p/>
          <a:p>
            <a:pPr algn="l">
              <a:lnSpc>
                <a:spcPct val="115000"/>
              </a:lnSpc>
              <a:spcBef>
                <a:spcPts val="1800"/>
              </a:spcBef>
              <a:spcAft>
                <a:spcPts val="900"/>
              </a:spcAft>
            </a:pPr>
            <a:r>
              <a:rPr sz="1700"/>
              <a:t/>
            </a:r>
            <a:r>
              <a:rPr sz="1700" b="1"/>
              <a:t>Gastrointestinal (GI)</a:t>
            </a:r>
            <a:r>
              <a:rPr sz="1700"/>
              <a:t> events were the most common adverse events, primarily nausea and diarrhea, generally mild to moderate and transient.</a:t>
            </a:r>
          </a:p>
          <a:p>
            <a:pPr algn="l">
              <a:lnSpc>
                <a:spcPct val="115000"/>
              </a:lnSpc>
              <a:spcBef>
                <a:spcPts val="1800"/>
              </a:spcBef>
              <a:spcAft>
                <a:spcPts val="900"/>
              </a:spcAft>
            </a:pPr>
            <a:r>
              <a:rPr sz="1700"/>
              <a:t>GI events typically occurred earlier in the study (first 8-16 weeks) during dose initiation and escalation, potentially reflecting the dose-dependent nature of these events.</a:t>
            </a:r>
          </a:p>
          <a:p>
            <a:pPr algn="l">
              <a:lnSpc>
                <a:spcPct val="115000"/>
              </a:lnSpc>
              <a:spcBef>
                <a:spcPts val="1800"/>
              </a:spcBef>
              <a:spcAft>
                <a:spcPts val="900"/>
              </a:spcAft>
            </a:pPr>
            <a:r>
              <a:rPr sz="1700"/>
              <a:t>Discontinuation rates due to GI AEs increased with higher doses of oral semaglutide, consistent with findings for other </a:t>
            </a:r>
            <a:r>
              <a:rPr sz="1700" b="1"/>
              <a:t>GLP-1 Receptor Agonists (GLP-1RAs)</a:t>
            </a:r>
            <a:r>
              <a:rPr sz="1700"/>
              <a:t>.</a:t>
            </a:r>
          </a:p>
          <a:p>
            <a:pPr algn="l">
              <a:lnSpc>
                <a:spcPct val="115000"/>
              </a:lnSpc>
              <a:spcBef>
                <a:spcPts val="1800"/>
              </a:spcBef>
              <a:spcAft>
                <a:spcPts val="900"/>
              </a:spcAft>
            </a:pPr>
            <a:r>
              <a:rPr sz="1700"/>
              <a:t/>
            </a:r>
            <a:r>
              <a:rPr sz="1700" b="1"/>
              <a:t>Hypoglycemia</a:t>
            </a:r>
            <a:r>
              <a:rPr sz="1700"/>
              <a:t> was infrequent and comparable to comparator GLP-1RA therapies.</a:t>
            </a:r>
          </a:p>
          <a:p>
            <a:pPr algn="l">
              <a:lnSpc>
                <a:spcPct val="115000"/>
              </a:lnSpc>
              <a:spcBef>
                <a:spcPts val="1800"/>
              </a:spcBef>
              <a:spcAft>
                <a:spcPts val="900"/>
              </a:spcAft>
            </a:pPr>
            <a:r>
              <a:rPr sz="1700"/>
              <a:t>Overall safety profile consistent with that of other GLP-1RAs, demonstrating good tolerability in the PIONEER trials.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Circuit</Template>
  <TotalTime>52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Ashwini Shukla</dc:creator>
  <cp:lastModifiedBy>Ashwini Shukla</cp:lastModifiedBy>
  <cp:revision>1</cp:revision>
  <dcterms:created xsi:type="dcterms:W3CDTF">2025-12-25T13:16:06Z</dcterms:created>
  <dcterms:modified xsi:type="dcterms:W3CDTF">2025-12-25T14:09:02Z</dcterms:modified>
</cp:coreProperties>
</file>