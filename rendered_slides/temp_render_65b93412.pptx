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23"/>
    <p:restoredTop sz="94700"/>
  </p:normalViewPr>
  <p:slideViewPr>
    <p:cSldViewPr snapToGrid="0">
      <p:cViewPr varScale="1">
        <p:scale>
          <a:sx n="115" d="100"/>
          <a:sy n="115" d="100"/>
        </p:scale>
        <p:origin x="664" y="5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turn to the safety profile of Rybelsus. The clinical trials, particularly the PIONEER program, consistently demonstrated a favorable safety profile. The most frequently reported adverse events were gastrointestinal, primarily nausea and diarrhea. Importantly, these events were generally mild to moderate in intensity and transient, often resolving on their own. We observed that these GI events tended to occur earlier in the study, during the initial dose escalation phase. While discontinuation rates due to GI events did increase with higher doses, this is a common observation with GLP-1 receptor agonists. Hypoglycemia was rare and comparable to other GLP-1RA therapies. Overall, the safety profile aligns with that of other GLP-1RAs, reinforcing Rybelsus’s good tolerability.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12/25/25</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12/25/25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12/25/25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12/25/25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12/25/25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12/25/25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12/25/25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12/25/25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12/25/25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12/25/25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12/25/25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12/25/25</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Safety Profile: Well-Tolerated in Clinical Trials</a:t>
            </a:r>
          </a:p>
        </p:txBody>
      </p:sp>
      <p:sp>
        <p:nvSpPr>
          <p:cNvPr id="3" name="Content Placeholder 2"/>
          <p:cNvSpPr>
            <a:spLocks noGrp="1"/>
          </p:cNvSpPr>
          <p:nvPr>
            <p:ph idx="1"/>
          </p:nvPr>
        </p:nvSpPr>
        <p:spPr/>
        <p:txBody>
          <a:bodyPr wrap="square"/>
          <a:lstStyle/>
          <a:p/>
          <a:p>
            <a:pPr algn="l">
              <a:lnSpc>
                <a:spcPct val="115000"/>
              </a:lnSpc>
              <a:spcBef>
                <a:spcPts val="1200"/>
              </a:spcBef>
              <a:spcAft>
                <a:spcPts val="600"/>
              </a:spcAft>
            </a:pPr>
            <a:r>
              <a:rPr sz="1600"/>
              <a:t/>
            </a:r>
            <a:r>
              <a:rPr sz="1600" b="1"/>
              <a:t>Gastrointestinal (GI)</a:t>
            </a:r>
            <a:r>
              <a:rPr sz="1600"/>
              <a:t> events were the most common adverse events, primarily nausea and diarrhea, generally mild to moderate and transient.</a:t>
            </a:r>
          </a:p>
          <a:p>
            <a:pPr algn="l">
              <a:lnSpc>
                <a:spcPct val="115000"/>
              </a:lnSpc>
              <a:spcBef>
                <a:spcPts val="1200"/>
              </a:spcBef>
              <a:spcAft>
                <a:spcPts val="600"/>
              </a:spcAft>
            </a:pPr>
            <a:r>
              <a:rPr sz="1600"/>
              <a:t>GI events typically occurred earlier in the study (first 8-16 weeks) during dose initiation and escalation, potentially reflecting the dose-dependent nature of these events.</a:t>
            </a:r>
          </a:p>
          <a:p>
            <a:pPr algn="l">
              <a:lnSpc>
                <a:spcPct val="115000"/>
              </a:lnSpc>
              <a:spcBef>
                <a:spcPts val="1200"/>
              </a:spcBef>
              <a:spcAft>
                <a:spcPts val="600"/>
              </a:spcAft>
            </a:pPr>
            <a:r>
              <a:rPr sz="1600"/>
              <a:t>Discontinuation rates due to GI AEs increased with higher doses of oral semaglutide, consistent with findings for other </a:t>
            </a:r>
            <a:r>
              <a:rPr sz="1600" b="1"/>
              <a:t>GLP-1 Receptor Agonists (GLP-1RAs)</a:t>
            </a:r>
            <a:r>
              <a:rPr sz="1600"/>
              <a:t>.</a:t>
            </a:r>
          </a:p>
          <a:p>
            <a:pPr algn="l">
              <a:lnSpc>
                <a:spcPct val="115000"/>
              </a:lnSpc>
              <a:spcBef>
                <a:spcPts val="1200"/>
              </a:spcBef>
              <a:spcAft>
                <a:spcPts val="600"/>
              </a:spcAft>
            </a:pPr>
            <a:r>
              <a:rPr sz="1600"/>
              <a:t/>
            </a:r>
            <a:r>
              <a:rPr sz="1600" b="1"/>
              <a:t>Hypoglycemia</a:t>
            </a:r>
            <a:r>
              <a:rPr sz="1600"/>
              <a:t> was infrequent and comparable to comparator GLP-1RA therapies.</a:t>
            </a:r>
          </a:p>
          <a:p>
            <a:pPr algn="l">
              <a:lnSpc>
                <a:spcPct val="115000"/>
              </a:lnSpc>
              <a:spcBef>
                <a:spcPts val="1200"/>
              </a:spcBef>
              <a:spcAft>
                <a:spcPts val="600"/>
              </a:spcAft>
            </a:pPr>
            <a:r>
              <a:rPr sz="1600"/>
              <a:t>Overall safety profile consistent with that of other GLP-1RAs, demonstrating good tolerability in the PIONEER trials.</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Circuit</Template>
  <TotalTime>52</TotalTime>
  <Words>0</Words>
  <Application>Microsoft Macintosh PowerPoint</Application>
  <PresentationFormat>Widescreen</PresentationFormat>
  <Paragraphs>0</Paragraphs>
  <Slides>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Tw Cen MT</vt:lpstr>
      <vt:lpstr>Circuit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Ashwini Shukla</dc:creator>
  <cp:lastModifiedBy>Ashwini Shukla</cp:lastModifiedBy>
  <cp:revision>1</cp:revision>
  <dcterms:created xsi:type="dcterms:W3CDTF">2025-12-25T13:16:06Z</dcterms:created>
  <dcterms:modified xsi:type="dcterms:W3CDTF">2025-12-25T14:09:02Z</dcterms:modified>
</cp:coreProperties>
</file>