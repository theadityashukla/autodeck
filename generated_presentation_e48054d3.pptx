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An introduction to AlphaFold and its impact on healthcare research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decades, scientists have strived to accurately predict how proteins fold – a fundamental challenge in biology. The way a protein folds directly impacts its function, so understanding this process is key to drug discovery and countless other applications.  Historically, we’re largely reliant on experimental techniques like X-ray crystallography and Nuclear Magnetic Resonance (NMR) spectroscopy. While powerful, these methods have significant drawbacks. X-ray crystallography demands that proteins form highly ordered crystals, a process that can be incredibly difficult, if not impossible, for many proteins. NMR, while not requiring crystals, faces limitations with protein size and the complexity of the resulting spectra. These approaches, despite their contributions, are slow, resource-intensive, and struggle with the scale and dynamism of modern biological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 represents a significant breakthrough in computational biology, demonstrating the power of AI to tackle complex scientific challenges. At its core, AlphaFold is a deep learning system, specifically designed to predict the 3D structure of proteins from their amino acid sequences. A key innovation lies in its use of attention mechanisms, allowing the model to effectively analyze the intricate relationships between different amino acids within a protein. This is vital because a protein's function is directly linked to its 3D structure. The system builds upon Joint-Embedding Predictive Architectures (JEPAs), which seek to create representations that can be manipulated to understand how the world works. Furthermore, it incorporates Isotropic Gaussian Regularization (SIGReg), ensuring the model's embeddings align with an ideal distribution, leading to improved prediction accuracy and robustness.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Discuss the potential applications of AlphaFold in drug discovery, personalized medicine, and understanding disease mechanisms.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Outline future advancements in AlphaFold and provide links to relevant resources for further exploration.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Overview of Alphafold (HCP)</a:t>
            </a:r>
          </a:p>
        </p:txBody>
      </p:sp>
      <p:sp>
        <p:nvSpPr>
          <p:cNvPr id="3" name="Subtitle 2"/>
          <p:cNvSpPr>
            <a:spLocks noGrp="1"/>
          </p:cNvSpPr>
          <p:nvPr>
            <p:ph type="subTitle" idx="1"/>
          </p:nvPr>
        </p:nvSpPr>
        <p:spPr/>
        <p:txBody>
          <a:bodyPr/>
          <a:lstStyle/>
          <a:p>
            <a:r>
              <a:t>Generated by AutoDeck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AlphaFold: Revolutionizing Protein Structure Prediction</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r>
              <a:rPr b="1" sz="2400">
                <a:solidFill>
                  <a:srgbClr val="C80000"/>
                </a:solidFill>
              </a:rPr>
              <a:t>[Draft] Content to be generated.</a:t>
            </a:r>
          </a:p>
          <a:p>
            <a:pPr>
              <a:spcBef>
                <a:spcPts val="2000"/>
              </a:spcBef>
            </a:pPr>
            <a:r>
              <a:rPr sz="1800" i="1">
                <a:solidFill>
                  <a:srgbClr val="505050"/>
                </a:solidFill>
                <a:latin typeface="Arial"/>
              </a:rPr>
              <a:t>Instructions: An introduction to AlphaFold and its impact on healthcare research and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Protein Folding Challenge: A Historical Perspective</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spcBef>
                <a:spcPts val="1200"/>
              </a:spcBef>
              <a:spcAft>
                <a:spcPts val="600"/>
              </a:spcAft>
            </a:pPr>
            <a:r>
              <a:rPr sz="2200" b="0">
                <a:solidFill>
                  <a:srgbClr val="000000"/>
                </a:solidFill>
                <a:latin typeface="Arial"/>
              </a:rPr>
              <a:t>Predicting protein structure is crucial for understanding biological function.</a:t>
            </a:r>
          </a:p>
          <a:p>
            <a:pPr>
              <a:spcBef>
                <a:spcPts val="1200"/>
              </a:spcBef>
              <a:spcAft>
                <a:spcPts val="600"/>
              </a:spcAft>
            </a:pPr>
            <a:r>
              <a:rPr sz="2200" b="0">
                <a:solidFill>
                  <a:srgbClr val="000000"/>
                </a:solidFill>
                <a:latin typeface="Arial"/>
              </a:rPr>
              <a:t>Traditional methods like X-ray crystallography and NMR are time-consuming and limited.</a:t>
            </a:r>
          </a:p>
          <a:p>
            <a:pPr>
              <a:spcBef>
                <a:spcPts val="1200"/>
              </a:spcBef>
              <a:spcAft>
                <a:spcPts val="600"/>
              </a:spcAft>
            </a:pPr>
            <a:r>
              <a:rPr sz="2200" b="0">
                <a:solidFill>
                  <a:srgbClr val="000000"/>
                </a:solidFill>
                <a:latin typeface="Arial"/>
              </a:rPr>
              <a:t>X-ray crystallography requires well-ordered crystals, often difficult to obtain.</a:t>
            </a:r>
          </a:p>
          <a:p>
            <a:pPr>
              <a:spcBef>
                <a:spcPts val="1200"/>
              </a:spcBef>
              <a:spcAft>
                <a:spcPts val="600"/>
              </a:spcAft>
            </a:pPr>
            <a:r>
              <a:rPr sz="2200" b="0">
                <a:solidFill>
                  <a:srgbClr val="000000"/>
                </a:solidFill>
                <a:latin typeface="Arial"/>
              </a:rPr>
              <a:t>NMR is limited by protein size and spectral complexity.</a:t>
            </a:r>
          </a:p>
          <a:p>
            <a:pPr>
              <a:spcBef>
                <a:spcPts val="1200"/>
              </a:spcBef>
              <a:spcAft>
                <a:spcPts val="600"/>
              </a:spcAft>
            </a:pPr>
            <a:r>
              <a:rPr sz="2200" b="0">
                <a:solidFill>
                  <a:srgbClr val="000000"/>
                </a:solidFill>
                <a:latin typeface="Arial"/>
              </a:rPr>
              <a:t>These methods provide valuable insights but struggle with large proteins and dynamic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AlphaFold: Protein Structure Prediction with AI</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spcBef>
                <a:spcPts val="1200"/>
              </a:spcBef>
              <a:spcAft>
                <a:spcPts val="600"/>
              </a:spcAft>
            </a:pPr>
            <a:r>
              <a:rPr sz="2200" b="0">
                <a:solidFill>
                  <a:srgbClr val="000000"/>
                </a:solidFill>
                <a:latin typeface="Arial"/>
              </a:rPr>
              <a:t>Leverages Deep Learning: AlphaFold utilizes deep learning to predict 3D protein structures from amino acid sequences.</a:t>
            </a:r>
          </a:p>
          <a:p>
            <a:pPr>
              <a:spcBef>
                <a:spcPts val="1200"/>
              </a:spcBef>
              <a:spcAft>
                <a:spcPts val="600"/>
              </a:spcAft>
            </a:pPr>
            <a:r>
              <a:rPr sz="2200" b="0">
                <a:solidFill>
                  <a:srgbClr val="000000"/>
                </a:solidFill>
                <a:latin typeface="Arial"/>
              </a:rPr>
              <a:t>Key Innovation: Employs attention mechanisms to analyze relationships between amino acids, crucial for understanding protein folding.</a:t>
            </a:r>
          </a:p>
          <a:p>
            <a:pPr>
              <a:spcBef>
                <a:spcPts val="1200"/>
              </a:spcBef>
              <a:spcAft>
                <a:spcPts val="600"/>
              </a:spcAft>
            </a:pPr>
            <a:r>
              <a:rPr sz="2200" b="0">
                <a:solidFill>
                  <a:srgbClr val="000000"/>
                </a:solidFill>
                <a:latin typeface="Arial"/>
              </a:rPr>
              <a:t>Joint-Embedding Predictive Architectures (JEPAs): Builds upon JEPAs, striving for manipulable representations of the world and its dynamics.</a:t>
            </a:r>
          </a:p>
          <a:p>
            <a:pPr>
              <a:spcBef>
                <a:spcPts val="1200"/>
              </a:spcBef>
              <a:spcAft>
                <a:spcPts val="600"/>
              </a:spcAft>
            </a:pPr>
            <a:r>
              <a:rPr sz="2200" b="0">
                <a:solidFill>
                  <a:srgbClr val="000000"/>
                </a:solidFill>
                <a:latin typeface="Arial"/>
              </a:rPr>
              <a:t>Isotropic Gaussian Regularization: Uses SIGReg to constrain embeddings to an ideal distribution, minimizing prediction risk and improving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Impact &amp; Applications in Healthcare</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r>
              <a:rPr b="1" sz="2400">
                <a:solidFill>
                  <a:srgbClr val="C80000"/>
                </a:solidFill>
              </a:rPr>
              <a:t>[Draft] Content to be generated.</a:t>
            </a:r>
          </a:p>
          <a:p>
            <a:pPr>
              <a:spcBef>
                <a:spcPts val="2000"/>
              </a:spcBef>
            </a:pPr>
            <a:r>
              <a:rPr sz="1800" i="1">
                <a:solidFill>
                  <a:srgbClr val="505050"/>
                </a:solidFill>
                <a:latin typeface="Arial"/>
              </a:rPr>
              <a:t>Instructions: Discuss the potential applications of AlphaFold in drug discovery, personalized medicine, and understanding disease mechanisms.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Directions &amp; Resources</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r>
              <a:rPr b="1" sz="2400">
                <a:solidFill>
                  <a:srgbClr val="C80000"/>
                </a:solidFill>
              </a:rPr>
              <a:t>[Draft] Content to be generated.</a:t>
            </a:r>
          </a:p>
          <a:p>
            <a:pPr>
              <a:spcBef>
                <a:spcPts val="2000"/>
              </a:spcBef>
            </a:pPr>
            <a:r>
              <a:rPr sz="1800" i="1">
                <a:solidFill>
                  <a:srgbClr val="505050"/>
                </a:solidFill>
                <a:latin typeface="Arial"/>
              </a:rPr>
              <a:t>Instructions: Outline future advancements in AlphaFold and provide links to relevant resources for further exploration.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