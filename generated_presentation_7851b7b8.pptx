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we're talking about a paradigm shift in AI – self-supervised learning. Traditional supervised learning, while powerful, relies heavily on massive labeled datasets, which are costly and time-consuming to create. But consider this: the world is overflowing with unlabeled data – images, videos, text, audio – a treasure trove of information just waiting to be unlocked. Self-supervised learning offers a brilliant solution. It's an approach where the data itself provides the supervision. Think of how humans learn – we observe, predict, and refine our understanding of the world. Self-supervised learning aims to mimic this process, allowing AI to learn directly from the data without explicit human labels. This opens up incredible possibilities for AI, allowing it to tackle problems previously out of reach.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quickly compare two powerful learning approaches: supervised and self-supervised learning. In supervised learning, we explicitly provide labeled data to the model. It’s like showing a child pictures of cats and dogs and telling them which is which. The model learns to associate the image with the label. Self-supervised learning, on the other hand, is different. It doesn't need those labels. Instead, it learns by predicting parts of the data itself. Think of it like a child observing the world and learning to anticipate what will happen next – like predicting where a ball will bounce. The core difference is that supervised learning relies on human-provided labels, which can be expensive and time-consuming to create. Self-supervised learning unlocks the potential of the massive amounts of unlabeled data available, leading to more adaptable and robust AI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moving beyond traditional supervised learning. The real breakthrough is self-supervised learning, where we train our AI models on massive amounts of *unlabeled* data. How? By designing clever ‘pretext’ tasks – like predicting the next frame in a video, or filling in missing pieces of an image.  The key is this: the pretext task isn't the ultimate goal. It’s a means to an end. What we’re really after are *powerful, transferable features* that can be used for a wide range of applications.  Our work with LeJEPA demonstrates how to optimize these representations, leading to more robust and efficient AI. It's about learning how to learn, enabling AI to unlock the potential of the world's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quickly cover the landscape of pretext tasks – the self-supervised learning techniques that enable models to learn from unlabeled data. We can broadly categorize them into three main approaches. First, generative methods focus on learning by reconstructing the input, think of techniques like denoising autoencoders or the widely used masked language modeling.  Next, contrastive learning aims to tell apart similar and dissimilar examples, effectively pulling representations of similar pairs closer while pushing dissimilar ones apart. Finally, predictive learning, exemplified by Joint Embedding Predictive Architectures (JEPAs) like the one we're exploring, focuses on forecasting future states or missing information. It's worth noting that many techniques, like rotation prediction, often blend elements from these categories, creating a rich and evolving field.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we'll dive into contrastive learning, a powerful technique for learning representations without explicit labels. SimCLR and MoCo are two prominent examples. The core concept is simple: we want our model to learn that different augmented views of the same image are similar, while different images are dissimilar. This is achieved by creating 'positive' pairs – different augmentations of the same image – and 'negative' pairs – different images. A neural network extracts features, and a contrastive loss function, often temperature-scaled, drives the learning process. The quality of the learned representations is highly dependent on the data augmentation strategy; creative and effective augmentations are key.  Finally, it's important to acknowledge that contrastive learning can be computationally demanding, requiring large batch sizes or memory banks to handle the numerous negative samples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move beyond the dominant paradigm of contrastive learning. While it's been incredibly impactful, other approaches offer unique strengths. Masked Language Modeling, popularized by BERT, is fantastic for understanding sequential data but struggles with visual representations. Generative pretext tasks, where the model predicts future states or generates data, are another avenue, but require thoughtful task engineering.  The work presented here, specifically Joint-Embedding Predictive Architectures like LeJEPA, offers a compelling alternative. It provides a theoretically sound training objective, resulting in a scalable, stable, and efficient framework.  Ultimately, while these methods all contribute to representation learning, LeJEPA's grounding in theory and ease of implementation offers a powerful advantage.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exciting applications of self-supervised learning. As we’ve seen, LeJEPA is a game-changer. In computer vision, it achieves remarkable results, reaching 79% accuracy on ImageNet-1K – that's competitive with fine-tuned models. But the real power lies in its adaptability.  We’ve shown it consistently outperforms established transfer learning methods like DINO on specialized datasets like Galaxy10. What's truly impressive is LeJEPA's efficiency – it's remarkably simple to implement and scale, requiring minimal code.  This makes it accessible to a wider range of researchers and practitioners, paving the way for broader adoption of SSL across various domains.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demonstrated LeJEPA's remarkable capabilities, but the journey doesn't end here. The future of self-supervised learning hinges on tackling several critical challenges. First, we need to scale our methods to truly exascale datasets – think trillions of data points – requiring significant advancements in both algorithms and distributed computing. Secondly, while LeJEPA shows strong in-domain performance, improving generalization to truly diverse tasks and modalities is paramount.  Finally, we need a deeper theoretical understanding of SSL – what are the inherent limits of learning without labels, and how can we rigorously assess progress?  Developing more efficient algorithms remains a constant goal, ensuring that these powerful techniques are accessible to researchers and practitioners across various domains. These are the frontiers that will drive the next generation of 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entering a new era for artificial intelligence, one where machines learn from the vast amounts of unlabeled data surrounding us. Today, we’re excited to present a significant step forward in that direction. Our work focuses on self-supervised learning, a paradigm shift that allows AI to learn the underlying structure and dynamics of the world without explicit human labels. We’re introducing LeJEPA, a framework that streamlines the training of Joint-Embedding Predictive Architectures, offering a practical and scalable solution. The results speak for themselves: LeJEPA consistently outperforms existing approaches, even rivaling massive-scale foundation models, demonstrating the power of domain-specific self-supervision. This marks a pivotal moment – the future of AI is self-supervised.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Overview of Self Supervised Learning (PhD Student)</a:t>
            </a:r>
          </a:p>
        </p:txBody>
      </p:sp>
      <p:sp>
        <p:nvSpPr>
          <p:cNvPr id="3" name="Subtitle 2"/>
          <p:cNvSpPr>
            <a:spLocks noGrp="1"/>
          </p:cNvSpPr>
          <p:nvPr>
            <p:ph type="subTitle" idx="1"/>
          </p:nvPr>
        </p:nvSpPr>
        <p:spPr/>
        <p:txBody>
          <a:bodyPr/>
          <a:lstStyle/>
          <a:p>
            <a:r>
              <a:t>Generated by AutoDeck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Unlock AI's Potential: The Rise of Self-Supervised Learning</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4114800" cy="4572000"/>
          </a:xfrm>
          <a:prstGeom prst="rect">
            <a:avLst/>
          </a:prstGeom>
          <a:noFill/>
        </p:spPr>
        <p:txBody>
          <a:bodyPr wrap="square">
            <a:spAutoFit/>
          </a:bodyPr>
          <a:lstStyle/>
          <a:p/>
          <a:p>
            <a:pPr>
              <a:spcBef>
                <a:spcPts val="1200"/>
              </a:spcBef>
              <a:spcAft>
                <a:spcPts val="600"/>
              </a:spcAft>
            </a:pPr>
            <a:r>
              <a:rPr sz="1800">
                <a:solidFill>
                  <a:srgbClr val="000000"/>
                </a:solidFill>
                <a:latin typeface="Aptos"/>
              </a:rPr>
              <a:t>Supervised learning is data-hungry and expensive: Labeling data is a major bottleneck.</a:t>
            </a:r>
          </a:p>
          <a:p>
            <a:pPr>
              <a:spcBef>
                <a:spcPts val="1200"/>
              </a:spcBef>
              <a:spcAft>
                <a:spcPts val="600"/>
              </a:spcAft>
            </a:pPr>
            <a:r>
              <a:rPr sz="1800">
                <a:solidFill>
                  <a:srgbClr val="000000"/>
                </a:solidFill>
                <a:latin typeface="Aptos"/>
              </a:rPr>
              <a:t>We're drowning in unlabeled data: The vast majority of data remains untouched.</a:t>
            </a:r>
          </a:p>
          <a:p>
            <a:pPr>
              <a:spcBef>
                <a:spcPts val="1200"/>
              </a:spcBef>
              <a:spcAft>
                <a:spcPts val="600"/>
              </a:spcAft>
            </a:pPr>
            <a:r>
              <a:rPr sz="1800">
                <a:solidFill>
                  <a:srgbClr val="000000"/>
                </a:solidFill>
                <a:latin typeface="Aptos"/>
              </a:rPr>
              <a:t>Self-supervised learning: A revolutionary approach leveraging data itself to learn.</a:t>
            </a:r>
          </a:p>
          <a:p>
            <a:pPr>
              <a:spcBef>
                <a:spcPts val="1200"/>
              </a:spcBef>
              <a:spcAft>
                <a:spcPts val="600"/>
              </a:spcAft>
            </a:pPr>
            <a:r>
              <a:rPr sz="1800">
                <a:solidFill>
                  <a:srgbClr val="000000"/>
                </a:solidFill>
                <a:latin typeface="Aptos"/>
              </a:rPr>
              <a:t>Imagine AI that learns like humans: By observing and predicting the world around it.</a:t>
            </a:r>
          </a:p>
        </p:txBody>
      </p:sp>
      <p:pic>
        <p:nvPicPr>
          <p:cNvPr id="5" name="Picture 4" descr="img_1_2_bc74fad6.png"/>
          <p:cNvPicPr>
            <a:picLocks noChangeAspect="1"/>
          </p:cNvPicPr>
          <p:nvPr/>
        </p:nvPicPr>
        <p:blipFill>
          <a:blip r:embed="rId2"/>
          <a:stretch>
            <a:fillRect/>
          </a:stretch>
        </p:blipFill>
        <p:spPr>
          <a:xfrm>
            <a:off x="4754880" y="1828800"/>
            <a:ext cx="4114800" cy="4114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Supervised vs. Self-Supervised Learning: A Quick Look</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3840480" cy="4572000"/>
          </a:xfrm>
          <a:prstGeom prst="rect">
            <a:avLst/>
          </a:prstGeom>
          <a:noFill/>
        </p:spPr>
        <p:txBody>
          <a:bodyPr wrap="square">
            <a:spAutoFit/>
          </a:bodyPr>
          <a:lstStyle/>
          <a:p/>
          <a:p>
            <a:pPr>
              <a:spcBef>
                <a:spcPts val="1200"/>
              </a:spcBef>
              <a:spcAft>
                <a:spcPts val="600"/>
              </a:spcAft>
            </a:pPr>
            <a:r>
              <a:rPr sz="1800">
                <a:solidFill>
                  <a:srgbClr val="000000"/>
                </a:solidFill>
                <a:latin typeface="Aptos"/>
              </a:rPr>
              <a:t>Learns from labeled data</a:t>
            </a:r>
          </a:p>
          <a:p>
            <a:pPr>
              <a:spcBef>
                <a:spcPts val="1200"/>
              </a:spcBef>
              <a:spcAft>
                <a:spcPts val="600"/>
              </a:spcAft>
            </a:pPr>
            <a:r>
              <a:rPr sz="1800">
                <a:solidFill>
                  <a:srgbClr val="000000"/>
                </a:solidFill>
                <a:latin typeface="Aptos"/>
              </a:rPr>
              <a:t>Think of teaching a child by showing them examples and telling them what they are.</a:t>
            </a:r>
          </a:p>
        </p:txBody>
      </p:sp>
      <p:sp>
        <p:nvSpPr>
          <p:cNvPr id="5" name="TextBox 4"/>
          <p:cNvSpPr txBox="1"/>
          <p:nvPr/>
        </p:nvSpPr>
        <p:spPr>
          <a:xfrm>
            <a:off x="4846320" y="1828800"/>
            <a:ext cx="3840480" cy="4572000"/>
          </a:xfrm>
          <a:prstGeom prst="rect">
            <a:avLst/>
          </a:prstGeom>
          <a:noFill/>
        </p:spPr>
        <p:txBody>
          <a:bodyPr wrap="square">
            <a:spAutoFit/>
          </a:bodyPr>
          <a:lstStyle/>
          <a:p/>
          <a:p>
            <a:pPr>
              <a:spcBef>
                <a:spcPts val="1200"/>
              </a:spcBef>
              <a:spcAft>
                <a:spcPts val="600"/>
              </a:spcAft>
            </a:pPr>
            <a:r>
              <a:rPr sz="1800">
                <a:solidFill>
                  <a:srgbClr val="000000"/>
                </a:solidFill>
                <a:latin typeface="Aptos"/>
              </a:rPr>
              <a:t>Learns from unlabeled data by predicting parts of the data itself</a:t>
            </a:r>
          </a:p>
          <a:p>
            <a:pPr>
              <a:spcBef>
                <a:spcPts val="1200"/>
              </a:spcBef>
              <a:spcAft>
                <a:spcPts val="600"/>
              </a:spcAft>
            </a:pPr>
            <a:r>
              <a:rPr sz="1800">
                <a:solidFill>
                  <a:srgbClr val="000000"/>
                </a:solidFill>
                <a:latin typeface="Aptos"/>
              </a:rPr>
              <a:t>Like a child learning to understand the world by observing and predicting what will happen next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Unlocking AI: The Power of Pretext Tasks</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4114800" cy="4572000"/>
          </a:xfrm>
          <a:prstGeom prst="rect">
            <a:avLst/>
          </a:prstGeom>
          <a:noFill/>
        </p:spPr>
        <p:txBody>
          <a:bodyPr wrap="square">
            <a:spAutoFit/>
          </a:bodyPr>
          <a:lstStyle/>
          <a:p/>
          <a:p>
            <a:pPr>
              <a:spcBef>
                <a:spcPts val="1200"/>
              </a:spcBef>
              <a:spcAft>
                <a:spcPts val="600"/>
              </a:spcAft>
            </a:pPr>
            <a:r>
              <a:rPr sz="1800" b="1">
                <a:solidFill>
                  <a:srgbClr val="000000"/>
                </a:solidFill>
                <a:latin typeface="Aptos"/>
              </a:rPr>
              <a:t>Self-Supervised Learning:</a:t>
            </a:r>
            <a:r>
              <a:rPr sz="1800">
                <a:solidFill>
                  <a:srgbClr val="000000"/>
                </a:solidFill>
                <a:latin typeface="Aptos"/>
              </a:rPr>
              <a:t> Train models on unlabeled data by creating 'pretext' tasks.</a:t>
            </a:r>
          </a:p>
          <a:p>
            <a:pPr>
              <a:spcBef>
                <a:spcPts val="1200"/>
              </a:spcBef>
              <a:spcAft>
                <a:spcPts val="600"/>
              </a:spcAft>
            </a:pPr>
            <a:r>
              <a:rPr sz="1800" b="1">
                <a:solidFill>
                  <a:srgbClr val="000000"/>
                </a:solidFill>
                <a:latin typeface="Aptos"/>
              </a:rPr>
              <a:t>Pretext Tasks Aren't the Goal:</a:t>
            </a:r>
            <a:r>
              <a:rPr sz="1800">
                <a:solidFill>
                  <a:srgbClr val="000000"/>
                </a:solidFill>
                <a:latin typeface="Aptos"/>
              </a:rPr>
              <a:t> The task itself isn's what matters. It's about learning *useful representations*.</a:t>
            </a:r>
          </a:p>
          <a:p>
            <a:pPr>
              <a:spcBef>
                <a:spcPts val="1200"/>
              </a:spcBef>
              <a:spcAft>
                <a:spcPts val="600"/>
              </a:spcAft>
            </a:pPr>
            <a:r>
              <a:rPr sz="1800" b="1">
                <a:solidFill>
                  <a:srgbClr val="000000"/>
                </a:solidFill>
                <a:latin typeface="Aptos"/>
              </a:rPr>
              <a:t>Transferable Features:</a:t>
            </a:r>
            <a:r>
              <a:rPr sz="1800">
                <a:solidFill>
                  <a:srgbClr val="000000"/>
                </a:solidFill>
                <a:latin typeface="Aptos"/>
              </a:rPr>
              <a:t> These learned representations can then be applied to various downstream tasks, boosting performance.</a:t>
            </a:r>
          </a:p>
          <a:p>
            <a:pPr>
              <a:spcBef>
                <a:spcPts val="1200"/>
              </a:spcBef>
              <a:spcAft>
                <a:spcPts val="600"/>
              </a:spcAft>
            </a:pPr>
            <a:r>
              <a:rPr sz="1800" b="1">
                <a:solidFill>
                  <a:srgbClr val="000000"/>
                </a:solidFill>
                <a:latin typeface="Aptos"/>
              </a:rPr>
              <a:t>LeJEPA: A New Framework:</a:t>
            </a:r>
            <a:r>
              <a:rPr sz="1800">
                <a:solidFill>
                  <a:srgbClr val="000000"/>
                </a:solidFill>
                <a:latin typeface="Aptos"/>
              </a:rPr>
              <a:t> A new framework that optimizes these representations to be isotropic Gaussian, leading to significant improvements in performance and training stability.</a:t>
            </a:r>
          </a:p>
        </p:txBody>
      </p:sp>
      <p:pic>
        <p:nvPicPr>
          <p:cNvPr id="5" name="Picture 4" descr="img_1_2_bc74fad6.png"/>
          <p:cNvPicPr>
            <a:picLocks noChangeAspect="1"/>
          </p:cNvPicPr>
          <p:nvPr/>
        </p:nvPicPr>
        <p:blipFill>
          <a:blip r:embed="rId2"/>
          <a:stretch>
            <a:fillRect/>
          </a:stretch>
        </p:blipFill>
        <p:spPr>
          <a:xfrm>
            <a:off x="4754880" y="1828800"/>
            <a:ext cx="41148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Pretext Tasks</a:t>
            </a:r>
          </a:p>
        </p:txBody>
      </p:sp>
      <p:sp>
        <p:nvSpPr>
          <p:cNvPr id="3" name="Content Placeholder 2"/>
          <p:cNvSpPr>
            <a:spLocks noGrp="1"/>
          </p:cNvSpPr>
          <p:nvPr>
            <p:ph idx="1"/>
          </p:nvPr>
        </p:nvSpPr>
        <p:spPr/>
        <p:txBody>
          <a:bodyPr/>
          <a:lstStyle/>
          <a:p/>
        </p:txBody>
      </p:sp>
      <p:sp>
        <p:nvSpPr>
          <p:cNvPr id="4" name="TextBox 3"/>
          <p:cNvSpPr txBox="1"/>
          <p:nvPr/>
        </p:nvSpPr>
        <p:spPr>
          <a:xfrm>
            <a:off x="457200" y="164592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k</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a:t>
            </a:r>
          </a:p>
        </p:txBody>
      </p:sp>
      <p:sp>
        <p:nvSpPr>
          <p:cNvPr id="5" name="TextBox 4"/>
          <p:cNvSpPr txBox="1"/>
          <p:nvPr/>
        </p:nvSpPr>
        <p:spPr>
          <a:xfrm>
            <a:off x="4846320" y="164592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h</a:t>
            </a:r>
          </a:p>
          <a:p>
            <a:pPr>
              <a:spcBef>
                <a:spcPts val="1200"/>
              </a:spcBef>
              <a:spcAft>
                <a:spcPts val="600"/>
              </a:spcAft>
            </a:pP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x</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f</a:t>
            </a:r>
          </a:p>
          <a:p>
            <a:pPr>
              <a:spcBef>
                <a:spcPts val="1200"/>
              </a:spcBef>
              <a:spcAft>
                <a:spcPts val="600"/>
              </a:spcAft>
            </a:pP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a:t>
            </a:r>
          </a:p>
        </p:txBody>
      </p:sp>
      <p:sp>
        <p:nvSpPr>
          <p:cNvPr id="6" name="TextBox 5"/>
          <p:cNvSpPr txBox="1"/>
          <p:nvPr/>
        </p:nvSpPr>
        <p:spPr>
          <a:xfrm>
            <a:off x="457200" y="411480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m</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J</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o</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a:t>
            </a:r>
          </a:p>
        </p:txBody>
      </p:sp>
      <p:sp>
        <p:nvSpPr>
          <p:cNvPr id="7" name="TextBox 6"/>
          <p:cNvSpPr txBox="1"/>
          <p:nvPr/>
        </p:nvSpPr>
        <p:spPr>
          <a:xfrm>
            <a:off x="4846320" y="411480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q</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k</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h</a:t>
            </a:r>
          </a:p>
          <a:p>
            <a:pPr>
              <a:spcBef>
                <a:spcPts val="1200"/>
              </a:spcBef>
              <a:spcAft>
                <a:spcPts val="600"/>
              </a:spcAft>
            </a:pP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f</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Contrastive Learning: SimCLR &amp; MoCo</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4114800" cy="4572000"/>
          </a:xfrm>
          <a:prstGeom prst="rect">
            <a:avLst/>
          </a:prstGeom>
          <a:noFill/>
        </p:spPr>
        <p:txBody>
          <a:bodyPr wrap="square">
            <a:spAutoFit/>
          </a:bodyPr>
          <a:lstStyle/>
          <a:p/>
          <a:p>
            <a:pPr>
              <a:spcBef>
                <a:spcPts val="1200"/>
              </a:spcBef>
              <a:spcAft>
                <a:spcPts val="600"/>
              </a:spcAft>
            </a:pPr>
            <a:r>
              <a:rPr sz="1800" b="1">
                <a:solidFill>
                  <a:srgbClr val="000000"/>
                </a:solidFill>
                <a:latin typeface="Aptos"/>
              </a:rPr>
              <a:t>Core Idea:</a:t>
            </a:r>
            <a:r>
              <a:rPr sz="1800">
                <a:solidFill>
                  <a:srgbClr val="000000"/>
                </a:solidFill>
                <a:latin typeface="Aptos"/>
              </a:rPr>
              <a:t> Contrastive learning aims to learn representations by pulling similar examples closer and pushing dissimilar ones apart.</a:t>
            </a:r>
          </a:p>
          <a:p>
            <a:pPr>
              <a:spcBef>
                <a:spcPts val="1200"/>
              </a:spcBef>
              <a:spcAft>
                <a:spcPts val="600"/>
              </a:spcAft>
            </a:pPr>
            <a:r>
              <a:rPr sz="1800" b="1">
                <a:solidFill>
                  <a:srgbClr val="000000"/>
                </a:solidFill>
                <a:latin typeface="Aptos"/>
              </a:rPr>
              <a:t>SimCLR &amp; MoCo:</a:t>
            </a:r>
            <a:r>
              <a:rPr sz="1800">
                <a:solidFill>
                  <a:srgbClr val="000000"/>
                </a:solidFill>
                <a:latin typeface="Aptos"/>
              </a:rPr>
              <a:t> These methods leverage data augmentation to create positive pairs (augmented versions of the same image) and negative pairs (different images).</a:t>
            </a:r>
          </a:p>
          <a:p>
            <a:pPr>
              <a:spcBef>
                <a:spcPts val="1200"/>
              </a:spcBef>
              <a:spcAft>
                <a:spcPts val="600"/>
              </a:spcAft>
            </a:pPr>
            <a:r>
              <a:rPr sz="1800" b="1">
                <a:solidFill>
                  <a:srgbClr val="000000"/>
                </a:solidFill>
                <a:latin typeface="Aptos"/>
              </a:rPr>
              <a:t>Key Components:</a:t>
            </a:r>
            <a:r>
              <a:rPr sz="1800">
                <a:solidFill>
                  <a:srgbClr val="000000"/>
                </a:solidFill>
                <a:latin typeface="Aptos"/>
              </a:rPr>
              <a:t> They rely on a neural network to extract features, a temperature-scaled contrastive loss function, and large batch sizes or memory banks to handle negative samples.</a:t>
            </a:r>
          </a:p>
          <a:p>
            <a:pPr>
              <a:spcBef>
                <a:spcPts val="1200"/>
              </a:spcBef>
              <a:spcAft>
                <a:spcPts val="600"/>
              </a:spcAft>
            </a:pPr>
            <a:r>
              <a:rPr sz="1800" b="1">
                <a:solidFill>
                  <a:srgbClr val="000000"/>
                </a:solidFill>
                <a:latin typeface="Aptos"/>
              </a:rPr>
              <a:t>Data Augmentation is Crucial:</a:t>
            </a:r>
            <a:r>
              <a:rPr sz="1800">
                <a:solidFill>
                  <a:srgbClr val="000000"/>
                </a:solidFill>
                <a:latin typeface="Aptos"/>
              </a:rPr>
              <a:t> The choice and strength of data augmentations significantly impact representation quality.  Careful design is essential.</a:t>
            </a:r>
          </a:p>
          <a:p>
            <a:pPr>
              <a:spcBef>
                <a:spcPts val="1200"/>
              </a:spcBef>
              <a:spcAft>
                <a:spcPts val="600"/>
              </a:spcAft>
            </a:pPr>
            <a:r>
              <a:rPr sz="1800" b="1">
                <a:solidFill>
                  <a:srgbClr val="000000"/>
                </a:solidFill>
                <a:latin typeface="Aptos"/>
              </a:rPr>
              <a:t>Scalability Challenges:</a:t>
            </a:r>
            <a:r>
              <a:rPr sz="1800">
                <a:solidFill>
                  <a:srgbClr val="000000"/>
                </a:solidFill>
                <a:latin typeface="Aptos"/>
              </a:rPr>
              <a:t>  Contrastive learning can be computationally expensive, particularly with large datasets and complex models.</a:t>
            </a:r>
          </a:p>
        </p:txBody>
      </p:sp>
      <p:pic>
        <p:nvPicPr>
          <p:cNvPr id="5" name="Picture 4" descr="img_1_2_bc74fad6.png"/>
          <p:cNvPicPr>
            <a:picLocks noChangeAspect="1"/>
          </p:cNvPicPr>
          <p:nvPr/>
        </p:nvPicPr>
        <p:blipFill>
          <a:blip r:embed="rId2"/>
          <a:stretch>
            <a:fillRect/>
          </a:stretch>
        </p:blipFill>
        <p:spPr>
          <a:xfrm>
            <a:off x="4754880" y="1828800"/>
            <a:ext cx="41148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Contrastive Learning: Alternative Approaches</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3840480" cy="4572000"/>
          </a:xfrm>
          <a:prstGeom prst="rect">
            <a:avLst/>
          </a:prstGeom>
          <a:noFill/>
        </p:spPr>
        <p:txBody>
          <a:bodyPr wrap="square">
            <a:spAutoFit/>
          </a:bodyPr>
          <a:lstStyle/>
          <a:p/>
          <a:p>
            <a:pPr>
              <a:spcBef>
                <a:spcPts val="1200"/>
              </a:spcBef>
              <a:spcAft>
                <a:spcPts val="600"/>
              </a:spcAft>
            </a:pPr>
            <a:r>
              <a:rPr sz="1800" b="1">
                <a:solidFill>
                  <a:srgbClr val="000000"/>
                </a:solidFill>
                <a:latin typeface="Aptos"/>
              </a:rPr>
              <a:t>Masked Language Modeling (BERT):</a:t>
            </a:r>
            <a:r>
              <a:rPr sz="1800">
                <a:solidFill>
                  <a:srgbClr val="000000"/>
                </a:solidFill>
                <a:latin typeface="Aptos"/>
              </a:rPr>
              <a:t> Excels at understanding context and relationships within sequences.</a:t>
            </a:r>
          </a:p>
          <a:p>
            <a:pPr>
              <a:spcBef>
                <a:spcPts val="1200"/>
              </a:spcBef>
              <a:spcAft>
                <a:spcPts val="600"/>
              </a:spcAft>
            </a:pPr>
            <a:r>
              <a:rPr sz="1800" b="1">
                <a:solidFill>
                  <a:srgbClr val="000000"/>
                </a:solidFill>
                <a:latin typeface="Aptos"/>
              </a:rPr>
              <a:t>Generative Pretext Tasks:</a:t>
            </a:r>
            <a:r>
              <a:rPr sz="1800">
                <a:solidFill>
                  <a:srgbClr val="000000"/>
                </a:solidFill>
                <a:latin typeface="Aptos"/>
              </a:rPr>
              <a:t> Focus on generating data or predicting future states, offering a different perspective on representation learning.</a:t>
            </a:r>
          </a:p>
          <a:p>
            <a:pPr>
              <a:spcBef>
                <a:spcPts val="1200"/>
              </a:spcBef>
              <a:spcAft>
                <a:spcPts val="600"/>
              </a:spcAft>
            </a:pPr>
            <a:r>
              <a:rPr sz="1800" b="1">
                <a:solidFill>
                  <a:srgbClr val="000000"/>
                </a:solidFill>
                <a:latin typeface="Aptos"/>
              </a:rPr>
              <a:t>Joint-Embedding Predictive Architectures (JEPAs):</a:t>
            </a:r>
            <a:r>
              <a:rPr sz="1800">
                <a:solidFill>
                  <a:srgbClr val="000000"/>
                </a:solidFill>
                <a:latin typeface="Aptos"/>
              </a:rPr>
              <a:t> A promising alternative, like the LeJEPA framework detailed in this work, offering a theoretically grounded training objective and practical benefits (scalability, stability, efficiency).</a:t>
            </a:r>
          </a:p>
        </p:txBody>
      </p:sp>
      <p:sp>
        <p:nvSpPr>
          <p:cNvPr id="5" name="TextBox 4"/>
          <p:cNvSpPr txBox="1"/>
          <p:nvPr/>
        </p:nvSpPr>
        <p:spPr>
          <a:xfrm>
            <a:off x="4846320" y="1828800"/>
            <a:ext cx="3840480" cy="4572000"/>
          </a:xfrm>
          <a:prstGeom prst="rect">
            <a:avLst/>
          </a:prstGeom>
          <a:noFill/>
        </p:spPr>
        <p:txBody>
          <a:bodyPr wrap="square">
            <a:spAutoFit/>
          </a:bodyPr>
          <a:lstStyle/>
          <a:p/>
          <a:p>
            <a:pPr>
              <a:spcBef>
                <a:spcPts val="1200"/>
              </a:spcBef>
              <a:spcAft>
                <a:spcPts val="600"/>
              </a:spcAft>
            </a:pPr>
            <a:r>
              <a:rPr sz="1800">
                <a:solidFill>
                  <a:srgbClr val="000000"/>
                </a:solidFill>
                <a:latin typeface="Aptos"/>
              </a:rPr>
              <a:t>Can be computationally expensive.</a:t>
            </a:r>
          </a:p>
          <a:p>
            <a:pPr>
              <a:spcBef>
                <a:spcPts val="1200"/>
              </a:spcBef>
              <a:spcAft>
                <a:spcPts val="600"/>
              </a:spcAft>
            </a:pPr>
            <a:r>
              <a:rPr sz="1800">
                <a:solidFill>
                  <a:srgbClr val="000000"/>
                </a:solidFill>
                <a:latin typeface="Aptos"/>
              </a:rPr>
              <a:t>Often requiring careful task design.</a:t>
            </a:r>
          </a:p>
          <a:p>
            <a:pPr>
              <a:spcBef>
                <a:spcPts val="1200"/>
              </a:spcBef>
              <a:spcAft>
                <a:spcPts val="600"/>
              </a:spcAft>
            </a:pPr>
            <a:r>
              <a:rPr sz="1800">
                <a:solidFill>
                  <a:srgbClr val="000000"/>
                </a:solidFill>
                <a:latin typeface="Aptos"/>
              </a:rPr>
              <a:t>Often involve more complex hyperparameter tuning or architectural choices compared to the simplicity and theoretical grounding of approaches like LeJEPA.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Self-Supervised Learning: Real-World Impact</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4114800" cy="4572000"/>
          </a:xfrm>
          <a:prstGeom prst="rect">
            <a:avLst/>
          </a:prstGeom>
          <a:noFill/>
        </p:spPr>
        <p:txBody>
          <a:bodyPr wrap="square">
            <a:spAutoFit/>
          </a:bodyPr>
          <a:lstStyle/>
          <a:p/>
          <a:p>
            <a:pPr>
              <a:spcBef>
                <a:spcPts val="1200"/>
              </a:spcBef>
              <a:spcAft>
                <a:spcPts val="600"/>
              </a:spcAft>
            </a:pPr>
            <a:r>
              <a:rPr sz="1800" b="1">
                <a:solidFill>
                  <a:srgbClr val="000000"/>
                </a:solidFill>
                <a:latin typeface="Aptos"/>
              </a:rPr>
              <a:t>Computer Vision:</a:t>
            </a:r>
            <a:r>
              <a:rPr sz="1800">
                <a:solidFill>
                  <a:srgbClr val="000000"/>
                </a:solidFill>
                <a:latin typeface="Aptos"/>
              </a:rPr>
              <a:t> Achieves 79% accuracy on ImageNet-1K with a ViT-H/14 using LeJEPA (linear evaluation, frozen backbone).</a:t>
            </a:r>
          </a:p>
          <a:p>
            <a:pPr>
              <a:spcBef>
                <a:spcPts val="1200"/>
              </a:spcBef>
              <a:spcAft>
                <a:spcPts val="600"/>
              </a:spcAft>
            </a:pPr>
            <a:r>
              <a:rPr sz="1800" b="1">
                <a:solidFill>
                  <a:srgbClr val="000000"/>
                </a:solidFill>
                <a:latin typeface="Aptos"/>
              </a:rPr>
              <a:t>Domain Adaptation:</a:t>
            </a:r>
            <a:r>
              <a:rPr sz="1800">
                <a:solidFill>
                  <a:srgbClr val="000000"/>
                </a:solidFill>
                <a:latin typeface="Aptos"/>
              </a:rPr>
              <a:t> Outperforms generic transfer learning (DINOv2/v3) on Galaxy10, demonstrating the power of domain-specific SSL.</a:t>
            </a:r>
          </a:p>
          <a:p>
            <a:pPr>
              <a:spcBef>
                <a:spcPts val="1200"/>
              </a:spcBef>
              <a:spcAft>
                <a:spcPts val="600"/>
              </a:spcAft>
            </a:pPr>
            <a:r>
              <a:rPr sz="1800" b="1">
                <a:solidFill>
                  <a:srgbClr val="000000"/>
                </a:solidFill>
                <a:latin typeface="Aptos"/>
              </a:rPr>
              <a:t>Scalability &amp; Efficiency:</a:t>
            </a:r>
            <a:r>
              <a:rPr sz="1800">
                <a:solidFill>
                  <a:srgbClr val="000000"/>
                </a:solidFill>
                <a:latin typeface="Aptos"/>
              </a:rPr>
              <a:t> LeJEPA boasts a single hyperparameter, linear time/memory complexity, and is easily distributed, requiring only ≈50 lines of code.</a:t>
            </a:r>
          </a:p>
          <a:p>
            <a:pPr>
              <a:spcBef>
                <a:spcPts val="1200"/>
              </a:spcBef>
              <a:spcAft>
                <a:spcPts val="600"/>
              </a:spcAft>
            </a:pPr>
            <a:r>
              <a:rPr sz="1800" b="1">
                <a:solidFill>
                  <a:srgbClr val="000000"/>
                </a:solidFill>
                <a:latin typeface="Aptos"/>
              </a:rPr>
              <a:t>Broad Applicability:</a:t>
            </a:r>
            <a:r>
              <a:rPr sz="1800">
                <a:solidFill>
                  <a:srgbClr val="000000"/>
                </a:solidFill>
                <a:latin typeface="Aptos"/>
              </a:rPr>
              <a:t> Shows consistent performance across diverse architectures (ResNets, ViTs, ConvNets) and datasets.</a:t>
            </a:r>
          </a:p>
        </p:txBody>
      </p:sp>
      <p:pic>
        <p:nvPicPr>
          <p:cNvPr id="5" name="Picture 4" descr="img_1_2_bc74fad6.png"/>
          <p:cNvPicPr>
            <a:picLocks noChangeAspect="1"/>
          </p:cNvPicPr>
          <p:nvPr/>
        </p:nvPicPr>
        <p:blipFill>
          <a:blip r:embed="rId2"/>
          <a:stretch>
            <a:fillRect/>
          </a:stretch>
        </p:blipFill>
        <p:spPr>
          <a:xfrm>
            <a:off x="4754880" y="1828800"/>
            <a:ext cx="411480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LeJEPA: The Road Ahead for Self-Supervised Learning</a:t>
            </a:r>
          </a:p>
        </p:txBody>
      </p:sp>
      <p:sp>
        <p:nvSpPr>
          <p:cNvPr id="3" name="Content Placeholder 2"/>
          <p:cNvSpPr>
            <a:spLocks noGrp="1"/>
          </p:cNvSpPr>
          <p:nvPr>
            <p:ph idx="1"/>
          </p:nvPr>
        </p:nvSpPr>
        <p:spPr/>
        <p:txBody>
          <a:bodyPr/>
          <a:lstStyle/>
          <a:p/>
        </p:txBody>
      </p:sp>
      <p:sp>
        <p:nvSpPr>
          <p:cNvPr id="4" name="TextBox 3"/>
          <p:cNvSpPr txBox="1"/>
          <p:nvPr/>
        </p:nvSpPr>
        <p:spPr>
          <a:xfrm>
            <a:off x="457200" y="164592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o</a:t>
            </a:r>
          </a:p>
          <a:p>
            <a:pPr>
              <a:spcBef>
                <a:spcPts val="1200"/>
              </a:spcBef>
              <a:spcAft>
                <a:spcPts val="600"/>
              </a:spcAft>
            </a:pP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x</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p>
          <a:p>
            <a:pPr>
              <a:spcBef>
                <a:spcPts val="1200"/>
              </a:spcBef>
              <a:spcAft>
                <a:spcPts val="600"/>
              </a:spcAft>
            </a:pPr>
            <a:r>
              <a:rPr sz="1800">
                <a:solidFill>
                  <a:srgbClr val="000000"/>
                </a:solidFill>
                <a:latin typeface="Aptos"/>
              </a:rPr>
              <a:t>k</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t>
            </a:r>
          </a:p>
        </p:txBody>
      </p:sp>
      <p:sp>
        <p:nvSpPr>
          <p:cNvPr id="5" name="TextBox 4"/>
          <p:cNvSpPr txBox="1"/>
          <p:nvPr/>
        </p:nvSpPr>
        <p:spPr>
          <a:xfrm>
            <a:off x="4846320" y="164592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z</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y</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k</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p:txBody>
      </p:sp>
      <p:sp>
        <p:nvSpPr>
          <p:cNvPr id="6" name="TextBox 5"/>
          <p:cNvSpPr txBox="1"/>
          <p:nvPr/>
        </p:nvSpPr>
        <p:spPr>
          <a:xfrm>
            <a:off x="457200" y="411480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x</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f</a:t>
            </a:r>
          </a:p>
          <a:p>
            <a:pPr>
              <a:spcBef>
                <a:spcPts val="1200"/>
              </a:spcBef>
              <a:spcAft>
                <a:spcPts val="600"/>
              </a:spcAft>
            </a:pP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w</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q</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t>
            </a:r>
          </a:p>
        </p:txBody>
      </p:sp>
      <p:sp>
        <p:nvSpPr>
          <p:cNvPr id="7" name="TextBox 6"/>
          <p:cNvSpPr txBox="1"/>
          <p:nvPr/>
        </p:nvSpPr>
        <p:spPr>
          <a:xfrm>
            <a:off x="4846320" y="4114800"/>
            <a:ext cx="3840480" cy="2286000"/>
          </a:xfrm>
          <a:prstGeom prst="rect">
            <a:avLst/>
          </a:prstGeom>
          <a:noFill/>
        </p:spPr>
        <p:txBody>
          <a:bodyPr wrap="square">
            <a:spAutoFit/>
          </a:bodyPr>
          <a:lstStyle/>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v</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g</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h</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a:t>
            </a:r>
          </a:p>
          <a:p>
            <a:pPr>
              <a:spcBef>
                <a:spcPts val="1200"/>
              </a:spcBef>
              <a:spcAft>
                <a:spcPts val="600"/>
              </a:spcAft>
            </a:pP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g</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u</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l</a:t>
            </a:r>
          </a:p>
          <a:p>
            <a:pPr>
              <a:spcBef>
                <a:spcPts val="1200"/>
              </a:spcBef>
              <a:spcAft>
                <a:spcPts val="600"/>
              </a:spcAft>
            </a:pP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s</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r</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p>
          <a:p>
            <a:pPr>
              <a:spcBef>
                <a:spcPts val="1200"/>
              </a:spcBef>
              <a:spcAft>
                <a:spcPts val="600"/>
              </a:spcAft>
            </a:pPr>
            <a:r>
              <a:rPr sz="1800">
                <a:solidFill>
                  <a:srgbClr val="000000"/>
                </a:solidFill>
                <a:latin typeface="Aptos"/>
              </a:rPr>
              <a:t>f</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w</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r</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c</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s</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b</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i</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y</a:t>
            </a:r>
          </a:p>
          <a:p>
            <a:pPr>
              <a:spcBef>
                <a:spcPts val="1200"/>
              </a:spcBef>
              <a:spcAft>
                <a:spcPts val="600"/>
              </a:spcAft>
            </a:pPr>
          </a:p>
          <a:p>
            <a:pPr>
              <a:spcBef>
                <a:spcPts val="1200"/>
              </a:spcBef>
              <a:spcAft>
                <a:spcPts val="600"/>
              </a:spcAft>
            </a:pPr>
            <a:r>
              <a:rPr sz="1800">
                <a:solidFill>
                  <a:srgbClr val="000000"/>
                </a:solidFill>
                <a:latin typeface="Aptos"/>
              </a:rPr>
              <a:t>a</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d</a:t>
            </a:r>
          </a:p>
          <a:p>
            <a:pPr>
              <a:spcBef>
                <a:spcPts val="1200"/>
              </a:spcBef>
              <a:spcAft>
                <a:spcPts val="600"/>
              </a:spcAft>
            </a:pPr>
          </a:p>
          <a:p>
            <a:pPr>
              <a:spcBef>
                <a:spcPts val="1200"/>
              </a:spcBef>
              <a:spcAft>
                <a:spcPts val="600"/>
              </a:spcAft>
            </a:pPr>
            <a:r>
              <a:rPr sz="1800">
                <a:solidFill>
                  <a:srgbClr val="000000"/>
                </a:solidFill>
                <a:latin typeface="Aptos"/>
              </a:rPr>
              <a:t>d</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p</a:t>
            </a:r>
          </a:p>
          <a:p>
            <a:pPr>
              <a:spcBef>
                <a:spcPts val="1200"/>
              </a:spcBef>
              <a:spcAft>
                <a:spcPts val="600"/>
              </a:spcAft>
            </a:pPr>
            <a:r>
              <a:rPr sz="1800">
                <a:solidFill>
                  <a:srgbClr val="000000"/>
                </a:solidFill>
                <a:latin typeface="Aptos"/>
              </a:rPr>
              <a:t>l</a:t>
            </a:r>
          </a:p>
          <a:p>
            <a:pPr>
              <a:spcBef>
                <a:spcPts val="1200"/>
              </a:spcBef>
              <a:spcAft>
                <a:spcPts val="600"/>
              </a:spcAft>
            </a:pPr>
            <a:r>
              <a:rPr sz="1800">
                <a:solidFill>
                  <a:srgbClr val="000000"/>
                </a:solidFill>
                <a:latin typeface="Aptos"/>
              </a:rPr>
              <a:t>o</a:t>
            </a:r>
          </a:p>
          <a:p>
            <a:pPr>
              <a:spcBef>
                <a:spcPts val="1200"/>
              </a:spcBef>
              <a:spcAft>
                <a:spcPts val="600"/>
              </a:spcAft>
            </a:pPr>
            <a:r>
              <a:rPr sz="1800">
                <a:solidFill>
                  <a:srgbClr val="000000"/>
                </a:solidFill>
                <a:latin typeface="Aptos"/>
              </a:rPr>
              <a:t>y</a:t>
            </a:r>
          </a:p>
          <a:p>
            <a:pPr>
              <a:spcBef>
                <a:spcPts val="1200"/>
              </a:spcBef>
              <a:spcAft>
                <a:spcPts val="600"/>
              </a:spcAft>
            </a:pPr>
            <a:r>
              <a:rPr sz="1800">
                <a:solidFill>
                  <a:srgbClr val="000000"/>
                </a:solidFill>
                <a:latin typeface="Aptos"/>
              </a:rPr>
              <a:t>m</a:t>
            </a:r>
          </a:p>
          <a:p>
            <a:pPr>
              <a:spcBef>
                <a:spcPts val="1200"/>
              </a:spcBef>
              <a:spcAft>
                <a:spcPts val="600"/>
              </a:spcAft>
            </a:pPr>
            <a:r>
              <a:rPr sz="1800">
                <a:solidFill>
                  <a:srgbClr val="000000"/>
                </a:solidFill>
                <a:latin typeface="Aptos"/>
              </a:rPr>
              <a:t>e</a:t>
            </a:r>
          </a:p>
          <a:p>
            <a:pPr>
              <a:spcBef>
                <a:spcPts val="1200"/>
              </a:spcBef>
              <a:spcAft>
                <a:spcPts val="600"/>
              </a:spcAft>
            </a:pPr>
            <a:r>
              <a:rPr sz="1800">
                <a:solidFill>
                  <a:srgbClr val="000000"/>
                </a:solidFill>
                <a:latin typeface="Aptos"/>
              </a:rPr>
              <a:t>n</a:t>
            </a:r>
          </a:p>
          <a:p>
            <a:pPr>
              <a:spcBef>
                <a:spcPts val="1200"/>
              </a:spcBef>
              <a:spcAft>
                <a:spcPts val="600"/>
              </a:spcAft>
            </a:pPr>
            <a:r>
              <a:rPr sz="1800">
                <a:solidFill>
                  <a:srgbClr val="000000"/>
                </a:solidFill>
                <a:latin typeface="Aptos"/>
              </a:rPr>
              <a:t>t</a:t>
            </a:r>
          </a:p>
          <a:p>
            <a:pPr>
              <a:spcBef>
                <a:spcPts val="1200"/>
              </a:spcBef>
              <a:spcAft>
                <a:spcPts val="600"/>
              </a:spcAft>
            </a:pPr>
            <a:r>
              <a:rPr sz="1800">
                <a:solidFill>
                  <a:srgbClr val="000000"/>
                </a:solidFill>
                <a:latin typeface="Apto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Dawn of Self-Supervised AI</a:t>
            </a:r>
          </a:p>
        </p:txBody>
      </p:sp>
      <p:sp>
        <p:nvSpPr>
          <p:cNvPr id="3" name="Content Placeholder 2"/>
          <p:cNvSpPr>
            <a:spLocks noGrp="1"/>
          </p:cNvSpPr>
          <p:nvPr>
            <p:ph idx="1"/>
          </p:nvPr>
        </p:nvSpPr>
        <p:spPr/>
        <p:txBody>
          <a:bodyPr/>
          <a:lstStyle/>
          <a:p/>
        </p:txBody>
      </p:sp>
      <p:sp>
        <p:nvSpPr>
          <p:cNvPr id="4" name="TextBox 3"/>
          <p:cNvSpPr txBox="1"/>
          <p:nvPr/>
        </p:nvSpPr>
        <p:spPr>
          <a:xfrm>
            <a:off x="457200" y="1828800"/>
            <a:ext cx="4114800" cy="4572000"/>
          </a:xfrm>
          <a:prstGeom prst="rect">
            <a:avLst/>
          </a:prstGeom>
          <a:noFill/>
        </p:spPr>
        <p:txBody>
          <a:bodyPr wrap="square">
            <a:spAutoFit/>
          </a:bodyPr>
          <a:lstStyle/>
          <a:p/>
          <a:p>
            <a:pPr>
              <a:spcBef>
                <a:spcPts val="1200"/>
              </a:spcBef>
              <a:spcAft>
                <a:spcPts val="600"/>
              </a:spcAft>
            </a:pPr>
            <a:r>
              <a:rPr sz="1800">
                <a:solidFill>
                  <a:srgbClr val="000000"/>
                </a:solidFill>
                <a:latin typeface="Aptos"/>
              </a:rPr>
              <a:t>Self-supervised learning (SSL) is poised to revolutionize AI by enabling machines to learn from unlabeled data.</a:t>
            </a:r>
          </a:p>
          <a:p>
            <a:pPr>
              <a:spcBef>
                <a:spcPts val="1200"/>
              </a:spcBef>
              <a:spcAft>
                <a:spcPts val="600"/>
              </a:spcAft>
            </a:pPr>
            <a:r>
              <a:rPr sz="1800">
                <a:solidFill>
                  <a:srgbClr val="000000"/>
                </a:solidFill>
                <a:latin typeface="Aptos"/>
              </a:rPr>
              <a:t>LeJEPA introduces a theoretically grounded framework for Joint-Embedding Predictive Architectures (JEPAs), simplifying training and boosting performance.</a:t>
            </a:r>
          </a:p>
          <a:p>
            <a:pPr>
              <a:spcBef>
                <a:spcPts val="1200"/>
              </a:spcBef>
              <a:spcAft>
                <a:spcPts val="600"/>
              </a:spcAft>
            </a:pPr>
            <a:r>
              <a:rPr sz="1800">
                <a:solidFill>
                  <a:srgbClr val="000000"/>
                </a:solidFill>
                <a:latin typeface="Aptos"/>
              </a:rPr>
              <a:t>Our research demonstrates LeJEPA’s scalability, stability, and impressive results across diverse datasets, architectures, and domains – even surpassing state-of-the-art transfer learning.</a:t>
            </a:r>
          </a:p>
          <a:p>
            <a:pPr>
              <a:spcBef>
                <a:spcPts val="1200"/>
              </a:spcBef>
              <a:spcAft>
                <a:spcPts val="600"/>
              </a:spcAft>
            </a:pPr>
            <a:r>
              <a:rPr sz="1800">
                <a:solidFill>
                  <a:srgbClr val="000000"/>
                </a:solidFill>
                <a:latin typeface="Aptos"/>
              </a:rPr>
              <a:t>The future of AI lies in learning the world's dynamics through self-supervision, unlocking unprecedented capabilities.</a:t>
            </a:r>
          </a:p>
        </p:txBody>
      </p:sp>
      <p:pic>
        <p:nvPicPr>
          <p:cNvPr id="5" name="Picture 4" descr="img_1_2_bc74fad6.png"/>
          <p:cNvPicPr>
            <a:picLocks noChangeAspect="1"/>
          </p:cNvPicPr>
          <p:nvPr/>
        </p:nvPicPr>
        <p:blipFill>
          <a:blip r:embed="rId2"/>
          <a:stretch>
            <a:fillRect/>
          </a:stretch>
        </p:blipFill>
        <p:spPr>
          <a:xfrm>
            <a:off x="4754880" y="1828800"/>
            <a:ext cx="411480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